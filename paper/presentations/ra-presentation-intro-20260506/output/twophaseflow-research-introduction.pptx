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a5cca07b874930" /><Relationship Type="http://schemas.openxmlformats.org/officeDocument/2006/relationships/extended-properties" Target="/docProps/app.xml" Id="R6afc0296a7574e57" /><Relationship Type="http://schemas.openxmlformats.org/officeDocument/2006/relationships/officeDocument" Target="/ppt/presentation.xml" Id="Rcc667bac1c7e44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426c7f49204978"/>
  </p:sldMasterIdLst>
  <p:notesMasterIdLst>
    <p:notesMasterId xmlns:r="http://schemas.openxmlformats.org/officeDocument/2006/relationships" r:id="R0063d82301c24b31"/>
  </p:notesMasterIdLst>
  <p:sldIdLst>
    <p:sldId xmlns:r="http://schemas.openxmlformats.org/officeDocument/2006/relationships" id="256" r:id="R121b175bcfc94015"/>
    <p:sldId xmlns:r="http://schemas.openxmlformats.org/officeDocument/2006/relationships" id="257" r:id="Rfab537ce535b489a"/>
    <p:sldId xmlns:r="http://schemas.openxmlformats.org/officeDocument/2006/relationships" id="258" r:id="R4f79dab35e81418c"/>
    <p:sldId xmlns:r="http://schemas.openxmlformats.org/officeDocument/2006/relationships" id="259" r:id="R24d5ec0f995e4c6c"/>
    <p:sldId xmlns:r="http://schemas.openxmlformats.org/officeDocument/2006/relationships" id="260" r:id="Rfc7af19e651f4c5c"/>
    <p:sldId xmlns:r="http://schemas.openxmlformats.org/officeDocument/2006/relationships" id="261" r:id="R2d9dc6e51b9943a5"/>
    <p:sldId xmlns:r="http://schemas.openxmlformats.org/officeDocument/2006/relationships" id="262" r:id="Rc30e54a59c2b429b"/>
    <p:sldId xmlns:r="http://schemas.openxmlformats.org/officeDocument/2006/relationships" id="263" r:id="R30dc277593614181"/>
    <p:sldId xmlns:r="http://schemas.openxmlformats.org/officeDocument/2006/relationships" id="264" r:id="Rd26f9172fa6344cd"/>
    <p:sldId xmlns:r="http://schemas.openxmlformats.org/officeDocument/2006/relationships" id="265" r:id="R8917f4e9f1bb433e"/>
    <p:sldId xmlns:r="http://schemas.openxmlformats.org/officeDocument/2006/relationships" id="266" r:id="R019d4d01260a447e"/>
    <p:sldId xmlns:r="http://schemas.openxmlformats.org/officeDocument/2006/relationships" id="267" r:id="Rafe3efb338354bdf"/>
    <p:sldId xmlns:r="http://schemas.openxmlformats.org/officeDocument/2006/relationships" id="268" r:id="R6a10f2c83dcb4ad1"/>
    <p:sldId xmlns:r="http://schemas.openxmlformats.org/officeDocument/2006/relationships" id="269" r:id="Radb6f823aec6492f"/>
    <p:sldId xmlns:r="http://schemas.openxmlformats.org/officeDocument/2006/relationships" id="270" r:id="R214d57cde2054e4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426c7f49204978" /><Relationship Type="http://schemas.openxmlformats.org/officeDocument/2006/relationships/theme" Target="/ppt/theme/theme1.xml" Id="R43b525c81d1e479e" /><Relationship Type="http://schemas.openxmlformats.org/officeDocument/2006/relationships/notesMaster" Target="/ppt/notesMasters/notesMaster1.xml" Id="R0063d82301c24b31" /><Relationship Type="http://schemas.openxmlformats.org/officeDocument/2006/relationships/presProps" Target="/ppt/presProps.xml" Id="R9aef8acb72604423" /><Relationship Type="http://schemas.openxmlformats.org/officeDocument/2006/relationships/viewProps" Target="/ppt/viewProps.xml" Id="Ra8b5d1277e144873" /><Relationship Type="http://schemas.openxmlformats.org/officeDocument/2006/relationships/tableStyles" Target="/ppt/tableStyles.xml" Id="Re2322e2995d64797" /><Relationship Type="http://schemas.openxmlformats.org/officeDocument/2006/relationships/slide" Target="/ppt/slides/slide1.xml" Id="R121b175bcfc94015" /><Relationship Type="http://schemas.openxmlformats.org/officeDocument/2006/relationships/slide" Target="/ppt/slides/slide2.xml" Id="Rfab537ce535b489a" /><Relationship Type="http://schemas.openxmlformats.org/officeDocument/2006/relationships/slide" Target="/ppt/slides/slide3.xml" Id="R4f79dab35e81418c" /><Relationship Type="http://schemas.openxmlformats.org/officeDocument/2006/relationships/slide" Target="/ppt/slides/slide4.xml" Id="R24d5ec0f995e4c6c" /><Relationship Type="http://schemas.openxmlformats.org/officeDocument/2006/relationships/slide" Target="/ppt/slides/slide5.xml" Id="Rfc7af19e651f4c5c" /><Relationship Type="http://schemas.openxmlformats.org/officeDocument/2006/relationships/slide" Target="/ppt/slides/slide6.xml" Id="R2d9dc6e51b9943a5" /><Relationship Type="http://schemas.openxmlformats.org/officeDocument/2006/relationships/slide" Target="/ppt/slides/slide7.xml" Id="Rc30e54a59c2b429b" /><Relationship Type="http://schemas.openxmlformats.org/officeDocument/2006/relationships/slide" Target="/ppt/slides/slide8.xml" Id="R30dc277593614181" /><Relationship Type="http://schemas.openxmlformats.org/officeDocument/2006/relationships/slide" Target="/ppt/slides/slide9.xml" Id="Rd26f9172fa6344cd" /><Relationship Type="http://schemas.openxmlformats.org/officeDocument/2006/relationships/slide" Target="/ppt/slides/slide10.xml" Id="R8917f4e9f1bb433e" /><Relationship Type="http://schemas.openxmlformats.org/officeDocument/2006/relationships/slide" Target="/ppt/slides/slide11.xml" Id="R019d4d01260a447e" /><Relationship Type="http://schemas.openxmlformats.org/officeDocument/2006/relationships/slide" Target="/ppt/slides/slide12.xml" Id="Rafe3efb338354bdf" /><Relationship Type="http://schemas.openxmlformats.org/officeDocument/2006/relationships/slide" Target="/ppt/slides/slide13.xml" Id="R6a10f2c83dcb4ad1" /><Relationship Type="http://schemas.openxmlformats.org/officeDocument/2006/relationships/slide" Target="/ppt/slides/slide14.xml" Id="Radb6f823aec6492f" /><Relationship Type="http://schemas.openxmlformats.org/officeDocument/2006/relationships/slide" Target="/ppt/slides/slide15.xml" Id="R214d57cde2054e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5bbf28a453642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096e01c9ef43ee" /><Relationship Type="http://schemas.openxmlformats.org/officeDocument/2006/relationships/notesMaster" Target="/ppt/notesMasters/notesMaster1.xml" Id="R838cfe87b58f40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5b4c5f77224f4a" /><Relationship Type="http://schemas.openxmlformats.org/officeDocument/2006/relationships/notesMaster" Target="/ppt/notesMasters/notesMaster1.xml" Id="Rfe309ada3d3849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e2e12393b24e7b" /><Relationship Type="http://schemas.openxmlformats.org/officeDocument/2006/relationships/notesMaster" Target="/ppt/notesMasters/notesMaster1.xml" Id="Rfcdc46eb77954d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7db0381068473e" /><Relationship Type="http://schemas.openxmlformats.org/officeDocument/2006/relationships/notesMaster" Target="/ppt/notesMasters/notesMaster1.xml" Id="Rc2d55dca84e244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6d2a3e69f64cf0" /><Relationship Type="http://schemas.openxmlformats.org/officeDocument/2006/relationships/notesMaster" Target="/ppt/notesMasters/notesMaster1.xml" Id="R4e19935ed36445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bd210cef9b41fc" /><Relationship Type="http://schemas.openxmlformats.org/officeDocument/2006/relationships/notesMaster" Target="/ppt/notesMasters/notesMaster1.xml" Id="Re4721fe1f5f142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cbaa54361d42cf" /><Relationship Type="http://schemas.openxmlformats.org/officeDocument/2006/relationships/notesMaster" Target="/ppt/notesMasters/notesMaster1.xml" Id="Rd5799581395c47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73ccf3440a419a" /><Relationship Type="http://schemas.openxmlformats.org/officeDocument/2006/relationships/notesMaster" Target="/ppt/notesMasters/notesMaster1.xml" Id="R3920ec1d5eb34f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6a1df4021443c0" /><Relationship Type="http://schemas.openxmlformats.org/officeDocument/2006/relationships/notesMaster" Target="/ppt/notesMasters/notesMaster1.xml" Id="Rd4e11e66d71842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5f85be79384d75" /><Relationship Type="http://schemas.openxmlformats.org/officeDocument/2006/relationships/notesMaster" Target="/ppt/notesMasters/notesMaster1.xml" Id="Rcee9fb0958d54e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2e9fdeff16405e" /><Relationship Type="http://schemas.openxmlformats.org/officeDocument/2006/relationships/notesMaster" Target="/ppt/notesMasters/notesMaster1.xml" Id="Re3e9513b8f324d8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61a502452e54f0e" /><Relationship Type="http://schemas.openxmlformats.org/officeDocument/2006/relationships/notesMaster" Target="/ppt/notesMasters/notesMaster1.xml" Id="Rc732d468962943c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5c6e593e776461e" /><Relationship Type="http://schemas.openxmlformats.org/officeDocument/2006/relationships/notesMaster" Target="/ppt/notesMasters/notesMaster1.xml" Id="R4a9a7f6b3015450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a1eb3f53dc9442b" /><Relationship Type="http://schemas.openxmlformats.org/officeDocument/2006/relationships/notesMaster" Target="/ppt/notesMasters/notesMaster1.xml" Id="Rd82e8bfc1a88456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3d4557477df4ef3" /><Relationship Type="http://schemas.openxmlformats.org/officeDocument/2006/relationships/notesMaster" Target="/ppt/notesMasters/notesMaster1.xml" Id="R2e36969bbaf741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c7c26e54cd4ae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060b2e8df884883" /><Relationship Type="http://schemas.openxmlformats.org/officeDocument/2006/relationships/slideLayout" Target="/ppt/slideLayouts/slideLayout2.xml" Id="Ra10458541f8541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0458541f8541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2599924ea141f1" /><Relationship Type="http://schemas.openxmlformats.org/officeDocument/2006/relationships/notesSlide" Target="/ppt/notesSlides/notesSlide1.xml" Id="R958f87a2af3645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adca55609a44a0" /><Relationship Type="http://schemas.openxmlformats.org/officeDocument/2006/relationships/notesSlide" Target="/ppt/notesSlides/notesSlide2.xml" Id="Rde2b5f2611844b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53cc2acee64ab8" /><Relationship Type="http://schemas.openxmlformats.org/officeDocument/2006/relationships/notesSlide" Target="/ppt/notesSlides/notesSlide3.xml" Id="R42a93046a37946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245f7e66a74ee6" /><Relationship Type="http://schemas.openxmlformats.org/officeDocument/2006/relationships/notesSlide" Target="/ppt/notesSlides/notesSlide4.xml" Id="R7c92786fd9f24e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2a5b8cec1f4cdf" /><Relationship Type="http://schemas.openxmlformats.org/officeDocument/2006/relationships/image" Target="/ppt/media/image.png" Id="Ra16ed79f27b94653" /><Relationship Type="http://schemas.openxmlformats.org/officeDocument/2006/relationships/notesSlide" Target="/ppt/notesSlides/notesSlide5.xml" Id="R43093eac660d46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805792ca4747d0" /><Relationship Type="http://schemas.openxmlformats.org/officeDocument/2006/relationships/notesSlide" Target="/ppt/notesSlides/notesSlide6.xml" Id="R448a28b6d2b74c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3158f6c901468a" /><Relationship Type="http://schemas.openxmlformats.org/officeDocument/2006/relationships/notesSlide" Target="/ppt/notesSlides/notesSlide7.xml" Id="R74eb4e73e36948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97ea31e7064b68" /><Relationship Type="http://schemas.openxmlformats.org/officeDocument/2006/relationships/notesSlide" Target="/ppt/notesSlides/notesSlide8.xml" Id="R612086a1a50646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c6705b153b431b" /><Relationship Type="http://schemas.openxmlformats.org/officeDocument/2006/relationships/notesSlide" Target="/ppt/notesSlides/notesSlide9.xml" Id="Refa02523b44142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4570cac46d4165" /><Relationship Type="http://schemas.openxmlformats.org/officeDocument/2006/relationships/notesSlide" Target="/ppt/notesSlides/notesSlide10.xml" Id="R9746bd5990c840c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a3ed2ad7084a62" /><Relationship Type="http://schemas.openxmlformats.org/officeDocument/2006/relationships/notesSlide" Target="/ppt/notesSlides/notesSlide11.xml" Id="Rdb19bd023f084b1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e4f2507ac9409e" /><Relationship Type="http://schemas.openxmlformats.org/officeDocument/2006/relationships/notesSlide" Target="/ppt/notesSlides/notesSlide12.xml" Id="R3590088766a34ec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8cb0391d7247ed" /><Relationship Type="http://schemas.openxmlformats.org/officeDocument/2006/relationships/notesSlide" Target="/ppt/notesSlides/notesSlide13.xml" Id="R238c9d6be35d401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daf69135804543" /><Relationship Type="http://schemas.openxmlformats.org/officeDocument/2006/relationships/notesSlide" Target="/ppt/notesSlides/notesSlide14.xml" Id="R1fe78ee96f9941f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af72ea3d744178" /><Relationship Type="http://schemas.openxmlformats.org/officeDocument/2006/relationships/notesSlide" Target="/ppt/notesSlides/notesSlide15.xml" Id="R93e1bfbd3d95405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7FB6CC-49F8-4667-AAEE-714E0DD3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FE195-840B-48AC-B622-589B29E4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E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51085-47E3-4AF6-9DC5-A62FF4C6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rPr>
              <a:t>流体力学会向け 研究内容紹介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9B58F6-A83F-4D98-ABD8-25F792E2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7429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CCD/FCCD/UCCD6を核にした二相流数値法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6CE9E5-809F-4490-8637-56B528B9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保存形界面追跡・Balanced-Force・pressure-jump分相PPEを、CCDファミリの面幾何で閉じる。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BADC10-3A35-4E0F-AB63-56E925AA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25B665-5CB7-4E6F-B6AC-5FF77C70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57675"/>
            <a:ext cx="2162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CCD node derivatives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3FDABF-E4B3-43E6-9706-EDDEA21A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9100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CD75F9-B4CE-477E-AF7B-80344DEE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257675"/>
            <a:ext cx="2162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5D39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D95D39"/>
                </a:solidFill>
                <a:latin typeface="Hiragino Sans"/>
                <a:ea typeface="Hiragino Sans"/>
                <a:cs typeface="Hiragino Sans"/>
              </a:rPr>
              <a:t>FCCD face flux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AD3291-6393-4A3F-B67D-FAEC5505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4F2D6F-AA51-4970-90DD-B55872EC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52975"/>
            <a:ext cx="2162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UCCD6 momentum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290C60-426E-4F85-9587-D6491FC1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8630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E10304-8BF6-443C-9C18-7A3BD415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752975"/>
            <a:ext cx="2162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5D39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D95D39"/>
                </a:solidFill>
                <a:latin typeface="Hiragino Sans"/>
                <a:ea typeface="Hiragino Sans"/>
                <a:cs typeface="Hiragino Sans"/>
              </a:rPr>
              <a:t>DCCD damping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E7EEF3-D5D9-4A63-ADC3-7E4D0147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04875"/>
            <a:ext cx="24765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7C6283-9D0F-44B1-99EE-62201363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1905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face-space</a:t>
            </a:r>
          </a:p>
          <a:p xmlns:a="http://schemas.openxmlformats.org/drawingml/2006/main">
            <a:pPr algn="ctr">
              <a:defRPr sz="210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contract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D97DDE-06AD-40C9-B3F4-7F8327A6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1A50ED-4138-45C4-B71B-D6D2F91D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37E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69737E"/>
                </a:solidFill>
                <a:latin typeface="Hiragino Sans"/>
                <a:ea typeface="Hiragino Sans"/>
                <a:cs typeface="Hiragino Sans"/>
              </a:rPr>
              <a:t>source: Abstract; Introduction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B4B836-7655-415F-A741-D00D758F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9118564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0AFB7E-64EA-4E37-81EE-5305A53F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D94AA-BD26-4FA3-AFAC-08A36626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E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C256D1-96D2-4692-B962-60D40BD3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二相流の難しさは、界面が方程式の全項を同時に壊すことにある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82317-07B0-4540-B8D8-D79C7C53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962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密度・粘性・曲率・圧力ジャンプが同じ場所で不連続になるため、単相流の高次化だけでは寄生流れを止められない。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FA82A-3569-4974-BB6B-C079327F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69A31E-F707-4836-A309-B0A2394E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133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物性ジャンプ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F80D18-DAF7-463C-AFF8-3018E054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24125"/>
            <a:ext cx="21336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rho_l/rho_g は水/空気で約1000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E4690A-764A-43D2-8248-2EEEC404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1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4BDE1A-1969-4A83-ABB3-99795819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28850"/>
            <a:ext cx="2133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界面追跡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63B5D6-059B-4442-A3BF-1AFAB777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24125"/>
            <a:ext cx="21336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質量保存と鮮鋭性を同時に要求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EF1180-64DA-4DF0-BB26-C3A0F4AB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5CD523-8F44-42B5-A40D-6FEF0BB6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2133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曲率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DE4DF4-B3CC-4FA1-8A24-39FF4C4C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1925"/>
            <a:ext cx="21336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二階微分誤差が表面張力へ増幅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F8E6E3-E929-4B3B-A07B-E6E30C4A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43300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1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99EF7D-6607-43B2-9CAE-3A5E3FAB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76650"/>
            <a:ext cx="2133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圧力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3B4B93-1E17-4573-849F-ECF172EF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71925"/>
            <a:ext cx="21336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PPEと速度補正が界面条件を共有する必要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E8CADF-201C-4C42-8815-4727C543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0250"/>
            <a:ext cx="40005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C10739-CD6C-48FD-BC3F-CD76D329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860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界面が作る連鎖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0D09D6-CBEB-4C55-A8B2-46E066F7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194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AF549A-A7A9-48AB-B43B-169D9EEA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860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不連続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852BA9-5665-435B-83BF-CB611337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81350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0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999461-AC95-4667-A859-82655121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766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98AF54-6F25-49C0-9AA8-5BCB0D57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432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曲率誤差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F72956-70B6-478B-85BC-C9B2B373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0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CC2C87-91E6-4870-834C-E644C08C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338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408859-F74F-4197-8073-69A0C211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8004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圧力不整合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1172C2-F06B-4786-B5CC-FF8B9738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0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4E770A-895E-452A-93FD-FBFD10BF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1910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6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1A308B-E48B-4ACB-8D5F-F17C6B0C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2576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5D39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D95D39"/>
                </a:solidFill>
                <a:latin typeface="Hiragino Sans"/>
                <a:ea typeface="Hiragino Sans"/>
                <a:cs typeface="Hiragino Sans"/>
              </a:rPr>
              <a:t>寄生流れ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1D76A8-1E5F-4805-A90F-AAD9D82F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6541B0-E694-41CE-B687-9E488303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37E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69737E"/>
                </a:solidFill>
                <a:latin typeface="Hiragino Sans"/>
                <a:ea typeface="Hiragino Sans"/>
                <a:cs typeface="Hiragino Sans"/>
              </a:rPr>
              <a:t>source: Introduction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D8F476-B7D4-427B-AB4F-60E081C7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75612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BE61D3-8D45-4C65-BEC5-42EADD62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1D485E-28FB-498D-BEC0-476332D7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E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65F05-C4D6-4277-925B-23F3B9FC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計算コアはCCDファミリ：微分・面フラックス・運動量対流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A4EF7-09AE-47F1-AE24-25190765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962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CCDが節点微分、FCCDが面値/面勾配、UCCD6が運動量対流を担い、その上に圧力閉包と界面追跡を載せる。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333533-8950-4F82-9615-759EDF5E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28850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7C863D-DCC9-476D-8E27-E412FE7D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BC9246-68F5-4AC0-BCD4-5432A3DD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CCD/FCCD/UCCD6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CFE51D-CFF2-4E88-A791-B413FAAF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90900"/>
            <a:ext cx="238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節点微分・面フラックス・運動量対流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AC0C5F-39D5-423A-9C22-21B5CED6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28850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1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7C88E7-8A23-4050-B116-2D555E85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0030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B429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0B429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28089F-9ACB-4CA1-9C85-4523620A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337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圧力ジャンプ閉包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A95AAB-2D1A-4BEB-B158-29904796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90900"/>
            <a:ext cx="238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phase-separated PPE + HFE + DC k=3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4B5601-C51C-4615-8498-0806C24E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28850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6B52FF-A7B5-49F5-8CCE-0A53AF3C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00300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A0D0BB-DE98-48D8-BE6F-81087DF4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337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面幾何共有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3E4BA1-C43C-4B16-BCE2-7CC69E50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90900"/>
            <a:ext cx="238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FCCD face jet + projection-native face velocity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724488-42E5-41A1-B2BB-CC79FAC8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857750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5D39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D95D39"/>
                </a:solidFill>
                <a:latin typeface="Hiragino Sans"/>
                <a:ea typeface="Hiragino Sans"/>
                <a:cs typeface="Hiragino Sans"/>
              </a:rPr>
              <a:t>same face-space contract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BEA3BF-33D7-4EAE-9DDD-C1D36B58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AAE395-CF97-4CA2-B159-F077071F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37E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69737E"/>
                </a:solidFill>
                <a:latin typeface="Hiragino Sans"/>
                <a:ea typeface="Hiragino Sans"/>
                <a:cs typeface="Hiragino Sans"/>
              </a:rPr>
              <a:t>source: Introduction; collocated face geometry; full algorithm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D95677-BD64-4A76-9471-2721A03F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6886405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3A6642-35B7-4A7D-82D6-209428EC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7DB71-858A-4571-B87F-4A80353A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E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F9434-B683-4470-AB3A-57A54FB1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One-Fluid 表現は入口であり、圧力ジャンプの扱いが出口を決める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9C537A-D41F-4D9F-9755-C6887730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962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CLS は界面を保存形に追跡し、Young--Laplace ジャンプは CSF 体積力ではなく pressure-jump として PPE に渡す。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7B7A1C-7539-44B8-8093-29E32B25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2095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E160B-2E9A-4C8E-8F5D-B51F1137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52725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psi = H_e(-phi)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B77352-2CD4-4E9A-B890-3D378C20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17526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保存形界面変数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CBA20F-7738-412B-AA1B-78ECA7E5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48000"/>
            <a:ext cx="400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E3E0B2-462C-4D7D-96C5-5D9B1072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19375"/>
            <a:ext cx="2095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6D92B3-51FD-4763-A0CE-AB03A2EE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52725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kappa_lg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F51C78-A726-4E54-B927-77D5428B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48000"/>
            <a:ext cx="17526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HFE / direct-psi 曲率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F897CC-9350-438C-A785-3F5292ED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48000"/>
            <a:ext cx="400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83EAD2-FC18-46CF-8F4C-EB37312A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19375"/>
            <a:ext cx="2095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6E3A8C-39DB-47D0-9608-5866D612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52725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j_gl = p_g - p_l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32CD6A-42B5-4C53-8D69-823CD22F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48000"/>
            <a:ext cx="17526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-sigma kappa_lg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3F2C21-8782-429E-B818-BD8C50E7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48000"/>
            <a:ext cx="400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81D01E-E425-473E-A33C-E6CE3D5F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19375"/>
            <a:ext cx="2095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4CE4E9-8B38-4BE8-93AC-A86BBFCE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52725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G(p) - B(j)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68AFC8-2806-4BF1-B584-C6ABF8CC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48000"/>
            <a:ext cx="17526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affine jump corrector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506FB8-BF0C-4112-B08B-993BE437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45770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CSFの体積力近似で閉じず、圧力ジャンプとしてprojectionへ入れる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AFDDD1-0AEF-41F6-8C65-5CF99147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CEB9C7-8A85-4022-8455-424A1796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37E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69737E"/>
                </a:solidFill>
                <a:latin typeface="Hiragino Sans"/>
                <a:ea typeface="Hiragino Sans"/>
                <a:cs typeface="Hiragino Sans"/>
              </a:rPr>
              <a:t>source: Governing equations; surface tension jump; CLS; split PPE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6FC712-A0EE-4760-AAC2-6EB41921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53001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BD84B6-A43E-4B9F-9CBA-32B70E0B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B7766-CB3D-4AB7-82BA-9E0200BB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E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7E8547-430B-45BC-8817-003F4FA0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CCD -&gt; FCCD/UCCD6 が、この数値法の演算子コア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2ECC9-49A4-4772-B7D4-4FDBB9BB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962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CCDの高次微分を、FCCDの保存形face fluxとUCCD6の運動量対流へ展開する。DCCDは補助的な高波数制御に限定する。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DC06D-9D3E-4BD0-85CA-B83ED01D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7BC59-27D0-4DCE-88BB-215D9C37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24075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rPr>
              <a:t>CCD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EBDC56-89FB-4BF6-897D-F13DB7D1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504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rPr>
              <a:t>h^6.0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6C3681-7DD8-453A-B8E1-081F9B0B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1504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内点微分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06356-E1C7-440D-BD95-96E181D0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00025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369F63-7D1E-48C9-8A10-5B0BAF5C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24075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rPr>
              <a:t>FCCD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55F3D-FB54-4179-B53D-99210B60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24100"/>
            <a:ext cx="1504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rPr>
              <a:t>h^4.00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123A81-187D-43B5-8B1D-0E2CCC56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47950"/>
            <a:ext cx="1504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面値/面勾配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7BED5C-9B95-44DB-B5DB-455414A0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0025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1A7CBD-9F91-4A06-BAAD-FBFE292E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24075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rPr>
              <a:t>UCCD6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653405-C42D-42CF-8575-0A142AF4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24100"/>
            <a:ext cx="1504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rPr>
              <a:t>h^7.00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2D0612-A18D-4B99-9067-73878A37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47950"/>
            <a:ext cx="1504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対流スーパー収束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E94FDD-0F04-45C1-B6EB-63900C99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0025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3F7331-751F-4406-AE6F-509A0A19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24075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rPr>
              <a:t>DCCD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F97F13-F72C-4EC3-A03F-C2220D66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24100"/>
            <a:ext cx="1504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5D39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D95D39"/>
                </a:solidFill>
                <a:latin typeface="Hiragino Sans"/>
                <a:ea typeface="Hiragino Sans"/>
                <a:cs typeface="Hiragino Sans"/>
              </a:rPr>
              <a:t>H(pi)=0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4BADED-431F-45C9-8321-0764E9D8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47950"/>
            <a:ext cx="1504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Nyquist 抑制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6ed79f27b94653"/>
          <a:stretch xmlns:a="http://schemas.openxmlformats.org/drawingml/2006/main"/>
        </p:blipFill>
        <p:spPr>
          <a:xfrm xmlns:a="http://schemas.openxmlformats.org/drawingml/2006/main">
            <a:off x="1866900" y="3397242"/>
            <a:ext cx="6858000" cy="1987567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C303A5-DA05-4509-8914-9A2E772E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24250"/>
            <a:ext cx="23241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171236-9047-4D7E-9A08-18698238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338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設計原理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B068C0-B5FF-482F-A4B2-615E6DAA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95750"/>
            <a:ext cx="180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面値・勾配・散逸を同じコンパクト演算子族から作り、圧力だけはDCCD適用を禁止する。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D7AE53-88CE-4998-8F63-6D08CF52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EC3CF9-23F0-4744-B4AA-F4CD6F99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37E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69737E"/>
                </a:solidFill>
                <a:latin typeface="Hiragino Sans"/>
                <a:ea typeface="Hiragino Sans"/>
                <a:cs typeface="Hiragino Sans"/>
              </a:rPr>
              <a:t>source: CCD, DCCD, UCCD6, and FCCD operator derivations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08CC40-E9E0-41AF-BBAD-DAF65319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3737253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C6E239-EAB3-47E0-9B6A-C7BC235B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1F8D9C-4CDE-488F-BD87-D8B280C7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E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C94659-21C8-4933-8D62-A9A450DC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界面追跡は、保存形輸送と距離関数修復を分けて設計する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2D9CE6-0B94-4A36-9646-EA4F7047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962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FCCD flux-form で質量を運び、Ridge--Eikonal 再初期化で距離関数品質を戻す。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FE67E-C935-423D-98BE-DE95B9BF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3525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E8153-56A6-4FC8-B9CA-B1FCC431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移流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C123FC-045A-4D33-B5C0-5D3EE95C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9146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2F2C73-8CBE-4CDD-B61B-BAA8ECAE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667000"/>
            <a:ext cx="13525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59DC0D-C5AA-4AAA-8A08-54EA0714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95275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クランプ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FE103F-BDFB-4966-A75C-CF9DEC66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9146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E0B43D-281A-46A3-956C-04D01D5A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67000"/>
            <a:ext cx="13525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2EAC85-0F33-4A4C-B122-1786E9A9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5275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逆変換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6F310F-4FCC-4700-9383-F6CCC551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146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16E643-68F4-488A-8594-DE39A0A4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667000"/>
            <a:ext cx="13525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4F8E9E-D1B8-48F2-B7E1-6F706B8B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95275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Eikonal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CD43EB-7917-4D4B-89F2-88E2F38C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9146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B30326-6674-41F2-B92A-6E41DB78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67000"/>
            <a:ext cx="13525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3A099B-4738-4879-A31E-8053BE69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5275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DGR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4D0ACB-5FBF-4DDD-AE53-A7A12603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146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93907E-6382-414D-BAB5-5DAA7729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667000"/>
            <a:ext cx="13525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BA770F-7B23-4E69-AC3E-5BCC8924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95275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曲率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1CEC4C-13E6-4E52-B11F-57294604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238625"/>
            <a:ext cx="598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831D49-0798-499C-A68D-91236EFC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00550"/>
            <a:ext cx="552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5D39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D95D39"/>
                </a:solidFill>
                <a:latin typeface="Hiragino Sans"/>
                <a:ea typeface="Hiragino Sans"/>
                <a:cs typeface="Hiragino Sans"/>
              </a:rPr>
              <a:t>epsilon_eff / epsilon_*: 2.0 → 1.0000033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1F02F8-C618-4528-A1B3-FC188ECE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83C16C-8DCC-4C9B-89CD-30908541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37E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69737E"/>
                </a:solidFill>
                <a:latin typeface="Hiragino Sans"/>
                <a:ea typeface="Hiragino Sans"/>
                <a:cs typeface="Hiragino Sans"/>
              </a:rPr>
              <a:t>source: CLS transport; Ridge-Eikonal; CLS stages; component verification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5B7869-70B8-4B21-80D5-D02BC12C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909152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50F09E-82A2-4785-A508-78442C14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CFC52B-1161-44A6-AC75-43141C42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E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C1F7F-F98E-4746-B69A-4B803927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高密度比では、一括PPEではなく分相PPEとして圧力を閉じる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F7010-A92A-42DB-83B9-11589895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962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相内Poisson、HFE場延長、欠陥補正DCを組み合わせ、ジャンプ条件をPPEとcorrectorが共有する。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A9537C-C81B-40B0-A880-96E6014F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6914F-ABEE-4E2E-BEA8-26D058CC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66975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相内 Poisson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D67C75-12B1-47D8-ADC7-FEE3C530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16573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phase-separated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C6F20-751B-43ED-A3C3-1848CE9C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0510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68C87B-8F73-4252-AF73-46797AB4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33625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62142A-0A31-4983-B1D2-05DDF15E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66975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HFE 延長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32AF1F-1FED-449D-B6F1-A2AEB72E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62250"/>
            <a:ext cx="16573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Hermite triplet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9EF75D-9F57-42A1-93AE-055204A4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0510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0069B7-1E5D-4B59-954D-02397257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33625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1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5A7A13-C62D-4F47-9E1E-C0DF751A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66975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DC k=3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F70BFD-2A90-4A6E-B394-7DD25136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16573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residual contract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BDBC94-0D34-4327-BE78-601E840A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0510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D24477-438A-4C20-A699-AD954C1D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33625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DB7E45-2BBA-4D4E-A0F4-EB721F89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66975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jump corrector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C8A5E9-6BEE-4DD6-B325-2ED64937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16573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G(p)-B(j)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82FB57-AA52-4AD5-8FA9-5A2AF72A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09575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066269-804A-49E6-9EE8-3E42AC7C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19575"/>
            <a:ext cx="2028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rPr>
              <a:t>HFE 1D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B557FB-C15F-4AAD-940D-BF2F353F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19600"/>
            <a:ext cx="20288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rPr>
              <a:t>h^5.91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8A4115-7497-406C-AF02-187C52D8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43450"/>
            <a:ext cx="20288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Hermite 場延長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7A4CB7-BFD9-4353-BAE2-010DA954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09575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F320F8-E224-4211-8541-470A4FF6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19575"/>
            <a:ext cx="2028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rPr>
              <a:t>DC k=3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15FDB3-9FDB-419F-899C-F51751FE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19600"/>
            <a:ext cx="20288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0B429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F0B429"/>
                </a:solidFill>
                <a:latin typeface="Hiragino Sans"/>
                <a:ea typeface="Hiragino Sans"/>
                <a:cs typeface="Hiragino Sans"/>
              </a:rPr>
              <a:t>h^6.90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165EFA-BE15-4187-AFA6-5EE04624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43450"/>
            <a:ext cx="20288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Dirichlet production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8062F0-BB93-4436-9ED9-676F75E3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9575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326C36-D60A-4A50-B2DB-78E3F2B2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19575"/>
            <a:ext cx="2028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rPr>
              <a:t>残差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3C2A2D-51C7-4C20-B579-DD4BB1FA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19600"/>
            <a:ext cx="20288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rPr>
              <a:t>7e-6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E34AFC-528C-4017-B1B3-658EEEDD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43450"/>
            <a:ext cx="20288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split PPE + DC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E1316F-3BB5-46EF-9784-D773BA79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860676-0627-4047-A61F-95B01DAF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37E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69737E"/>
                </a:solidFill>
                <a:latin typeface="Hiragino Sans"/>
                <a:ea typeface="Hiragino Sans"/>
                <a:cs typeface="Hiragino Sans"/>
              </a:rPr>
              <a:t>source: Split PPE; HFE; defect correction; component verification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EB91C5-8367-4AD0-92D9-5FB217AF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9293539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2E0E68-7DD4-4B8D-9565-BAD23CB7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ECFD4-38C5-4446-A8B8-3D5AF215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E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C6335-FB15-469E-90D0-D29AB323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Balanced-Force の条件は、同じface footprintを共有することに落ちる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80090-9DDE-4B5E-AD2C-18889D2E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962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圧力勾配、表面張力、HFE上流点、GFMジャンプを別々に作ると、同じ式を使っても釣合いは崩れる。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7C6C0-703F-4298-A27B-EDB055B1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19375"/>
            <a:ext cx="3524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E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1F0D40-E53D-44B3-BB78-486A88F1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FCCD face jet J_f(u)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1FB4C-9227-4B48-92A7-0AD7FEFB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71462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F1789-A38E-408B-8D61-1F613266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146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7660EC-4792-4545-8BE3-80FC101E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71825"/>
            <a:ext cx="904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9A1BD8-4446-4A1E-9A81-FA1DE09C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71825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F2369E-B915-4B7D-8915-5C77CC95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38525"/>
            <a:ext cx="190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E20E3B-7A03-4C7C-B925-D4BE5AF3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2333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458252-12DA-405D-8EDA-C4B2088F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62225"/>
            <a:ext cx="2105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pressure gradient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1490EC-3245-413C-9E1F-B57C7419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2333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1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CCCEDA-4F3F-428E-A32E-D663D1D7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76725"/>
            <a:ext cx="2105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surface tension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CFA144-E18B-49CA-9075-7CAB2E95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333875"/>
            <a:ext cx="2333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FD259F-5367-48A3-8681-FCBD11F7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514850"/>
            <a:ext cx="2105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HFE upwind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6DD71B-0ADC-4FC2-9B46-0F8C9B72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95750"/>
            <a:ext cx="2333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56E1C2-D7C6-4361-8229-F5D049A1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76725"/>
            <a:ext cx="2105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GFM jump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DDC524-C06C-4B86-A63D-DA47BF0B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81250"/>
            <a:ext cx="2333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8BBAE7-1099-4B5D-BF09-2F7F3130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562225"/>
            <a:ext cx="2105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projection face velocity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2FEA90-6300-488C-809B-B8B976F9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353050"/>
            <a:ext cx="632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5D39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D95D39"/>
                </a:solidFill>
                <a:latin typeface="Hiragino Sans"/>
                <a:ea typeface="Hiragino Sans"/>
                <a:cs typeface="Hiragino Sans"/>
              </a:rPr>
              <a:t>同じface locus / 同じ面係数 / 同じjump向き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E8A664-5709-4C0C-A63C-3C7A5B8C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1F5E5B-FA60-4627-A737-5BBEB207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37E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69737E"/>
                </a:solidFill>
                <a:latin typeface="Hiragino Sans"/>
                <a:ea typeface="Hiragino Sans"/>
                <a:cs typeface="Hiragino Sans"/>
              </a:rPr>
              <a:t>source: Collocated face geometry; full algorithm; benchmark conditions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B687C7-39B6-438A-8831-D0E82055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2593847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100D0A-FE84-449A-A434-1402FFCB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742EF-46B4-47B3-9B38-7FB36EC8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E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7469D2-B9E5-4587-9C41-539BA208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1タイムステップは、界面面幾何を先に閉じてからNS更新へ渡す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1FC53-9D5D-41FE-9EB4-CAF40F80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962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7段更新は部品表ではなく、psi・phi・rho・mu・kappa・face-state の受け渡し契約である。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056BE-4F72-45AF-85F2-CCEEB432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52700"/>
            <a:ext cx="1181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B64AFA-1C84-4C3D-9329-1A60387E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0510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6D3E8-89C1-4AEA-803B-CEC5F00D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990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CLS移流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8AB3A-A82C-4957-80A4-F1406C67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52700"/>
            <a:ext cx="1181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58519-B06F-4C2E-858D-FFB12B20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70510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950493-51E6-484B-9E35-2EB9061F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38500"/>
            <a:ext cx="990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再初期化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A9860D-247F-46C1-978A-F4984BC2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52700"/>
            <a:ext cx="1181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66FB39-76DA-4343-B2EA-E4E1D9B2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70510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EA5940-EF99-4C32-84DA-ABD7950A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238500"/>
            <a:ext cx="990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物性更新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6D2121-4BE0-4D25-9830-D5CCFE7B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52700"/>
            <a:ext cx="1181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B4978D-5F45-4D3F-86BA-BAF96FBE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70510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8C4067-43DE-429A-8319-AA8A57B5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38500"/>
            <a:ext cx="990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曲率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F5A780-D56F-4483-A162-918654C1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52700"/>
            <a:ext cx="1181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94E55E-3A21-4BCA-AF8C-48912C2B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70510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0B429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0B429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AB7ADB-C446-4D75-BF5D-DE892549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38500"/>
            <a:ext cx="990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予測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4B95D2-EBD6-4DA7-AFC9-0C3F65F7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52700"/>
            <a:ext cx="1181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6A7B19-1B3F-42FD-AFF7-2FA85C8B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0510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0B429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0B429"/>
                </a:solidFill>
                <a:latin typeface="Hiragino Sans"/>
                <a:ea typeface="Hiragino Sans"/>
                <a:cs typeface="Hiragino Sans"/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24A566-7201-4739-AED0-60DC5858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38500"/>
            <a:ext cx="990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PPE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4083BB-9BA2-4477-B40C-AAA51228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52700"/>
            <a:ext cx="1181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BFB131-63D3-4015-8162-0F936EDA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70510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0B429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0B429"/>
                </a:solidFill>
                <a:latin typeface="Hiragino Sans"/>
                <a:ea typeface="Hiragino Sans"/>
                <a:cs typeface="Hiragino Sans"/>
              </a:rPr>
              <a:t>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C7EFC1-856E-42BE-8392-60161B29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38500"/>
            <a:ext cx="990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補正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F1CFD9-DAF2-4B61-BCA0-55E7E2CD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815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rPr>
              <a:t>界面幾何を閉じる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6D037A-8B6C-46B3-8824-4DDC5459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815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0B429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0B429"/>
                </a:solidFill>
                <a:latin typeface="Hiragino Sans"/>
                <a:ea typeface="Hiragino Sans"/>
                <a:cs typeface="Hiragino Sans"/>
              </a:rPr>
              <a:t>NS projectionへ渡す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6AC720-7602-45D5-A362-83910D54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421AD4-F43B-4196-B60E-AF192D0F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37E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69737E"/>
                </a:solidFill>
                <a:latin typeface="Hiragino Sans"/>
                <a:ea typeface="Hiragino Sans"/>
                <a:cs typeface="Hiragino Sans"/>
              </a:rPr>
              <a:t>source: Full algorithm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39795F-00E6-49EF-8316-36B5727C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8390608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5D109A-7DF5-4BA6-826B-15CED40E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E58F1-B83C-4D42-9B20-E7C17B82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E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58829-B261-47D1-AAE0-89B4EA43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単体検証は、CCDファミリと圧力閉包が単独で働くことを確認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24945E-4CAB-4B53-9E2F-22EAB3B9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962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基礎演算・非一様格子・静止液滴・圧力DCCD禁止を、式と観測指標の対応で確認した。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D64F7D-D798-4A0C-B3EC-936CB024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3C6C44-690D-4E1C-9916-E33C08FB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33625"/>
            <a:ext cx="1885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rPr>
              <a:t>CCD演算子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7575C-ECF0-48AF-96E3-ECF60FE2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336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rPr>
              <a:t>h^6.0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2CDFFD-D766-460B-8442-CC853F8D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1885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節点微分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E3E66F-F027-4E1A-A8AE-066E4FB4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C894E7-0A0A-421E-BCB3-80EFF569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33625"/>
            <a:ext cx="1885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rPr>
              <a:t>非一様格子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DC4134-D76D-41BA-BE03-360C8DF7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336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rPr>
              <a:t>GCL 2.13e-13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A69FF1-4FF7-4020-8F1C-CAD53D13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57500"/>
            <a:ext cx="1885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metric consistency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4D5121-D9E9-48DD-8CB1-34E28B94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098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67373F-E8A1-466E-A10E-69B2CEDE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33625"/>
            <a:ext cx="1885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rPr>
              <a:t>静止液滴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BE5350-7A72-45EF-A95A-321FF5AA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336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rPr>
              <a:t>0.61%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BA010-693A-4C96-8746-C1786EF5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57500"/>
            <a:ext cx="1885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Laplace error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BD043B-96C9-47CD-8AFC-3E18C653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A87902-3031-4EB4-AE1E-17933D8A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33625"/>
            <a:ext cx="1885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rPr>
              <a:t>圧力DCCD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3E7390-95D1-47AB-B289-8FB47552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336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5D39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D95D39"/>
                </a:solidFill>
                <a:latin typeface="Hiragino Sans"/>
                <a:ea typeface="Hiragino Sans"/>
                <a:cs typeface="Hiragino Sans"/>
              </a:rPr>
              <a:t>禁止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3F0C54-59C0-46E1-BECC-21BE667C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57500"/>
            <a:ext cx="1885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pressureには適用しない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4AA5F6-821D-4BAF-A60C-5FBC57BB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48125"/>
            <a:ext cx="9639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623DF4-5610-4173-81CE-9D5915E8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05300"/>
            <a:ext cx="902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基礎演算 → 特殊離散 → 結合系 → 否定検証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8DAE77-AC9D-41E5-9887-0555C3F4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C65F41-9421-4AC1-A084-A97D100C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37E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69737E"/>
                </a:solidFill>
                <a:latin typeface="Hiragino Sans"/>
                <a:ea typeface="Hiragino Sans"/>
                <a:cs typeface="Hiragino Sans"/>
              </a:rPr>
              <a:t>source: Component verification summary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EDA9FD-ACB2-4CA3-8BFA-506E9E33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7992521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C2F731-7664-4ED9-9BC2-39135E32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06FF05-52DA-4175-84A8-B1772E06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E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2F57F-4711-47EC-A077-F7F2DC9C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統合検証は、合格領域・構造修正・設計限界を分けて読む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B4DE4-11BF-4719-AB20-900DA52C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962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単に「全ケース合格」と言わず、通常合格、質量補正での合格、理論的限界に分解した。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CA181-DCFD-4792-87E3-E36D9FF4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24050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rPr>
              <a:t>判定軸数（強変形CLSは質量保存軸と形状軸に分割）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577B2-E11C-42C1-B33A-62F7F3B6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通常合格 / 文献基準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94FB1-B13E-4168-89FB-A85F2CFB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9075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29B966-3566-497C-BD38-A4B272FD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90750"/>
            <a:ext cx="381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EDA3E-3FB1-4DA7-8571-E59327AA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76475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68B4C3-D2DC-4E99-918C-9C94EC7E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質量補正で合格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DC73ED-CA06-4F8C-9F47-6A9BAF8D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1465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32ACC1-4651-4CC9-9988-2D146D8F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146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4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8017D8-14DC-4E8A-BC4E-921A9674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00375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AF3EB4-83C3-458F-9288-07A25FA5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338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設計限界として記録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84DC74-401F-4CAD-9625-45EC2419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D0573B-48F7-4F12-8B4F-8E16FC46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ABA216-D992-4C59-984A-03D66DEC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24275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980A8D-4BD0-4525-AC59-E98476E4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保証範囲外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2C0588-254D-4500-AD12-F16742C8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6245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D1D81A-32E0-402A-9C5D-9C7D28D8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62450"/>
            <a:ext cx="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4A4435-6880-4AA4-8E29-92B5A9DA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48175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767893-83B4-46C5-8169-DD1B8BF7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C1C4D1-A41F-4BCA-9D8D-03F73075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37E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69737E"/>
                </a:solidFill>
                <a:latin typeface="Hiragino Sans"/>
                <a:ea typeface="Hiragino Sans"/>
                <a:cs typeface="Hiragino Sans"/>
              </a:rPr>
              <a:t>source: Integrated verification; error budget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311622-3C96-4435-9456-AB5BDF57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8973144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F48DD1-05A5-4C9E-9450-39FF79BE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BB8FE-F140-4941-8B2E-5C63ED2E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E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F37F7-C9A3-43C8-AA42-B7079FBF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寄生流れは、FD基準より小さい絶対スケールへ抑制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AFF3B-5BD3-4382-AA1E-65264A71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962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静止液滴と密度比sweepでは、CCD/BF構成とpressure-jump stackの安定性を別々の指標で確認した。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A77A1-2118-41C9-93FB-B445EAE2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4191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785BD-7849-435C-9E83-9DD6E2F1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57425"/>
            <a:ext cx="388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rPr>
              <a:t>静止液滴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C65401-EF8E-4E58-B1C6-33E59EA9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388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rPr>
              <a:t>0.97%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E48C65-DC9E-4713-B847-73028477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388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Laplace pressure error at N=128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C22A9B-85C6-410C-83F6-96F196E6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33600"/>
            <a:ext cx="4191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F625DB-3008-4D8A-B648-A4470F0F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57425"/>
            <a:ext cx="388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rPr>
              <a:t>寄生流れ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C46BFF-A71E-426D-A88E-4406FEDF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388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5D39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D95D39"/>
                </a:solidFill>
                <a:latin typeface="Hiragino Sans"/>
                <a:ea typeface="Hiragino Sans"/>
                <a:cs typeface="Hiragino Sans"/>
              </a:rPr>
              <a:t>1.93e-2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67B0AA-80DF-44E8-A16F-E23B4FDC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388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u_inf end at rho_r=1,N=32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F3BCB0-5408-4030-A3A4-623E83E8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05200"/>
            <a:ext cx="4191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28A4A7-FFAB-4980-8246-A48EA5DD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29025"/>
            <a:ext cx="388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rPr>
              <a:t>密度比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F267A2-868A-4815-8F99-72FA1D1E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29050"/>
            <a:ext cx="388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rPr>
              <a:t>rho_r &lt;= 833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39FD35-6EBE-4B3B-AD5F-FEDC4CF2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52900"/>
            <a:ext cx="388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no blow-up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195E3A-CF73-494F-A2AD-AA16571C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505200"/>
            <a:ext cx="4191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506400-4AAC-4FAE-9940-759261FD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29025"/>
            <a:ext cx="388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rPr>
              <a:t>体積保存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B72B31-636D-42EC-ABF0-254337F7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388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rPr>
              <a:t>6.4e-16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12F4F8-4B4E-49E8-B037-C840E37E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52900"/>
            <a:ext cx="388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volume drift floor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EDC9C2-44BA-4B0D-A1A5-A105CE99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080B07-BF39-4A53-85A7-28BC10E8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37E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69737E"/>
                </a:solidFill>
                <a:latin typeface="Hiragino Sans"/>
                <a:ea typeface="Hiragino Sans"/>
                <a:cs typeface="Hiragino Sans"/>
              </a:rPr>
              <a:t>source: Static droplet; density-ratio sweep; error budget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5E9F34-0629-4A14-A11D-848595CA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0248922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45B0FA-045E-458A-8412-9B41FACB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90AEC-B86C-4163-BD27-788831EC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E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27CC1-128A-4AB8-A5C8-47AC107C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設計限界は、テストIDではなく物理的な誤差源として読む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0B721-E997-4E61-88F3-FFC0ED2A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962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時間精度は毛管圧力ジャンプとprojectionの界面帯に律速され、強変形CLSは固定格子の位相・細線解像限界に当たる。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3A1BD0-12B3-4C7E-B85A-9DAE2F13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10210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1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7733A3-8136-4B2D-A352-3680EFF3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812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5D39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D95D39"/>
                </a:solidFill>
                <a:latin typeface="Hiragino Sans"/>
                <a:ea typeface="Hiragino Sans"/>
                <a:cs typeface="Hiragino Sans"/>
              </a:rPr>
              <a:t>二相時間精度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BC4752-FD42-43BA-BCFF-1F1E93D0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52675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slope 1.48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7FCF9A-E5B2-4ADE-BFCC-9B95107C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90775"/>
            <a:ext cx="552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毛管pressure-jump/projection界面帯が支配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40FAB1-D1A8-447C-AE23-32301129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10210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F8B990-1896-4306-9AF4-2CFA919F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861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5D39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D95D39"/>
                </a:solidFill>
                <a:latin typeface="Hiragino Sans"/>
                <a:ea typeface="Hiragino Sans"/>
                <a:cs typeface="Hiragino Sans"/>
              </a:rPr>
              <a:t>Zalesak形状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AF9CF-BBB1-477A-AC26-25090E00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57575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centroid 4.911e-3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2C2FB8-40A2-4675-8009-27378732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95675"/>
            <a:ext cx="552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slot under-resolution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3EAB40-09D6-43B4-92E4-EBC6EEDA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10210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DF37F3-0A3E-44E1-9DD6-C2505BBE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910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5D39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D95D39"/>
                </a:solidFill>
                <a:latin typeface="Hiragino Sans"/>
                <a:ea typeface="Hiragino Sans"/>
                <a:cs typeface="Hiragino Sans"/>
              </a:rPr>
              <a:t>単一渦形状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06ADF0-8217-4A70-B73F-2FADDB42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62475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L1 2.248e-2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87A749-AFE9-4B83-BE94-CAE7AFF6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00575"/>
            <a:ext cx="552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folded filament の固定格子限界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ACE739-089F-4C20-AA40-0A0EFAFD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4C3E37-7236-46C6-A7BF-59E47959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37E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69737E"/>
                </a:solidFill>
                <a:latin typeface="Hiragino Sans"/>
                <a:ea typeface="Hiragino Sans"/>
                <a:cs typeface="Hiragino Sans"/>
              </a:rPr>
              <a:t>source: Error budget; conclusion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AA8641-CE75-4CBA-AFBC-36BED446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6010959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2DC8E3-3B95-441C-9454-55B719FC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069B7A-DB6A-4C57-9EB4-9ACAF2C6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E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54A17-BB9A-41FC-940F-9F471307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物理ベンチマークは、毛管波の符号検証から次のゲートへ進む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8D5DC-E811-4D16-A9C9-971C1006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962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向き付き affine jump は短時間の復元力符号を通したが、気泡上昇とRayleigh--Taylorは未完了検証として分離する。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868C1-E8BE-4091-8F8C-644A91C2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2762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0838A-2E29-4D6B-BE36-441096A8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2890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毛管波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B2ED84-BC15-4B08-914E-7EF5F648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24200"/>
            <a:ext cx="2152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A''符号・大きさを確認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99C9B5-A3FE-48A7-A580-8B849103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481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D6B5F-5B8A-4F38-A25A-CEFBB0F3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14775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進行中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F6AD90-4D8F-4927-85B2-CBE354F8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81250"/>
            <a:ext cx="2762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5A83CC-3F14-4C91-B86F-A45ECA63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2890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気泡上昇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6E82BC-1D72-41A2-BB4A-4AF35212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24200"/>
            <a:ext cx="2152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yc(t), rise velocity, deformation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E5E8FE-3AFC-4E21-BD55-439D48B1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481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6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11AF89-47D4-4FA6-8F4C-7BBE784B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14775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5D39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D95D39"/>
                </a:solidFill>
                <a:latin typeface="Hiragino Sans"/>
                <a:ea typeface="Hiragino Sans"/>
                <a:cs typeface="Hiragino Sans"/>
              </a:rPr>
              <a:t>未完了gate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EE08A6-3EC2-4042-BBA1-680FC528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81250"/>
            <a:ext cx="2762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F51A48-778C-45D2-8CD2-8F8E7AB0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2890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Rayleigh--Taylor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904FDA-A294-4166-B59F-857BBF71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24200"/>
            <a:ext cx="2152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線形成長率とmushroom形成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748578-B205-4CB5-A246-86D4321D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481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6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96B2C0-595D-4DD9-9C30-6BA1BA18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14775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5D39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D95D39"/>
                </a:solidFill>
                <a:latin typeface="Hiragino Sans"/>
                <a:ea typeface="Hiragino Sans"/>
                <a:cs typeface="Hiragino Sans"/>
              </a:rPr>
              <a:t>未完了gate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1414BF-D18F-4830-9505-40928674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4FDF5B-3083-4C40-AE07-1DF293F3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37E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69737E"/>
                </a:solidFill>
                <a:latin typeface="Hiragino Sans"/>
                <a:ea typeface="Hiragino Sans"/>
                <a:cs typeface="Hiragino Sans"/>
              </a:rPr>
              <a:t>source: Benchmark gates; conclusion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A5BA5C-D622-4D45-8BF1-46DB81EB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2874093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E70333-9BE9-4E91-8036-DF5B23CB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6E384A-EBFF-41E4-B089-E5E82F1E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E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07D50-29A1-479D-BDED-0F9FE10B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17212B"/>
                </a:solidFill>
                <a:latin typeface="Hiragino Sans"/>
                <a:ea typeface="Hiragino Sans"/>
                <a:cs typeface="Hiragino Sans"/>
              </a:rPr>
              <a:t>結論：高次化の本体は、演算子次数ではなく界面面契約の整合である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99C37-AC56-4A57-8AA9-A9CB2D0C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962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本研究は、CCD/FCCD/UCCD6を核に分相PPE+HFE+DC・Balanced-Force face subsystemを統合し、合格範囲と未解決範囲を検証軸として固定した。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44C421-0B93-4879-A831-AB2CA6CE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90750"/>
            <a:ext cx="948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9A054C-5C05-4283-B974-10A3B0BE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431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32DDA-CE1E-4723-ABD2-B8E93D7C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36220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寄生流れの離散化起因成分を構造的に低減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E18A20-50E1-41A8-B6AB-E5A49D46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24200"/>
            <a:ext cx="948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BD5AE2-38BF-4F98-86FE-17BB2659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766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150DB-2238-4BFE-B511-566196F1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29565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密度比 &lt;= 833 まで pressure-jump stack の有界性を確認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732DCE-5E67-41E9-8944-1253EF83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57650"/>
            <a:ext cx="948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B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6B06F3-FB9F-450B-ABAB-EDC44C7E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100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B998B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DC8364-AA2C-41D7-A21D-746EF5CB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2910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234E70"/>
                </a:solidFill>
                <a:latin typeface="Hiragino Sans"/>
                <a:ea typeface="Hiragino Sans"/>
                <a:cs typeface="Hiragino Sans"/>
              </a:rPr>
              <a:t>二相時間精度と強変形CLSの設計限界を次の研究ゲートとして明示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FDEC9E-49D0-443E-A984-E4FC0424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3C99A4-DDE5-419F-8703-F2686252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37E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69737E"/>
                </a:solidFill>
                <a:latin typeface="Hiragino Sans"/>
                <a:ea typeface="Hiragino Sans"/>
                <a:cs typeface="Hiragino Sans"/>
              </a:rPr>
              <a:t>source: Conclusion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07AF08-7AE8-47BA-9AE7-2F6F3296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53606D"/>
                </a:solidFill>
                <a:latin typeface="Hiragino Sans"/>
                <a:ea typeface="Hiragino Sans"/>
                <a:cs typeface="Hiragino San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863066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2026-05-05T16:56:45.0980000Z</dcterms:created>
  <dcterms:modified xsi:type="dcterms:W3CDTF">2026-05-05T16:56:45.0980000Z</dcterms:modified>
</coreProperties>
</file>