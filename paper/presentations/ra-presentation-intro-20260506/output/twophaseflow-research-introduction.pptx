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dee9ba6c104570" /><Relationship Type="http://schemas.openxmlformats.org/officeDocument/2006/relationships/extended-properties" Target="/docProps/app.xml" Id="R843aadccb75d4f88" /><Relationship Type="http://schemas.openxmlformats.org/officeDocument/2006/relationships/officeDocument" Target="/ppt/presentation.xml" Id="R2a0b798f460a4e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27cc17362e4bb7"/>
  </p:sldMasterIdLst>
  <p:notesMasterIdLst>
    <p:notesMasterId xmlns:r="http://schemas.openxmlformats.org/officeDocument/2006/relationships" r:id="Rf1635458f0314484"/>
  </p:notesMasterIdLst>
  <p:sldIdLst>
    <p:sldId xmlns:r="http://schemas.openxmlformats.org/officeDocument/2006/relationships" id="256" r:id="Rfa7b64377bf54801"/>
    <p:sldId xmlns:r="http://schemas.openxmlformats.org/officeDocument/2006/relationships" id="257" r:id="Rf69bcd3a021141ea"/>
    <p:sldId xmlns:r="http://schemas.openxmlformats.org/officeDocument/2006/relationships" id="258" r:id="Rdb655f7331f34d3d"/>
    <p:sldId xmlns:r="http://schemas.openxmlformats.org/officeDocument/2006/relationships" id="259" r:id="R66328a36638e4401"/>
    <p:sldId xmlns:r="http://schemas.openxmlformats.org/officeDocument/2006/relationships" id="260" r:id="R74708b524d844104"/>
    <p:sldId xmlns:r="http://schemas.openxmlformats.org/officeDocument/2006/relationships" id="261" r:id="Rd5318f349653474f"/>
    <p:sldId xmlns:r="http://schemas.openxmlformats.org/officeDocument/2006/relationships" id="262" r:id="Ra25d07f844114b9c"/>
    <p:sldId xmlns:r="http://schemas.openxmlformats.org/officeDocument/2006/relationships" id="263" r:id="R7b19ab685421436f"/>
    <p:sldId xmlns:r="http://schemas.openxmlformats.org/officeDocument/2006/relationships" id="264" r:id="Rf82e49437f994d60"/>
    <p:sldId xmlns:r="http://schemas.openxmlformats.org/officeDocument/2006/relationships" id="265" r:id="R248730c8da494889"/>
    <p:sldId xmlns:r="http://schemas.openxmlformats.org/officeDocument/2006/relationships" id="266" r:id="R191eea10e9af4bf7"/>
    <p:sldId xmlns:r="http://schemas.openxmlformats.org/officeDocument/2006/relationships" id="267" r:id="R3dfea05532a84951"/>
    <p:sldId xmlns:r="http://schemas.openxmlformats.org/officeDocument/2006/relationships" id="268" r:id="Rdecc228d61784e74"/>
    <p:sldId xmlns:r="http://schemas.openxmlformats.org/officeDocument/2006/relationships" id="269" r:id="Rc68efa345258419e"/>
    <p:sldId xmlns:r="http://schemas.openxmlformats.org/officeDocument/2006/relationships" id="270" r:id="Rd959fe9dbe1047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27cc17362e4bb7" /><Relationship Type="http://schemas.openxmlformats.org/officeDocument/2006/relationships/theme" Target="/ppt/theme/theme1.xml" Id="Rf59c43643c71458c" /><Relationship Type="http://schemas.openxmlformats.org/officeDocument/2006/relationships/notesMaster" Target="/ppt/notesMasters/notesMaster1.xml" Id="Rf1635458f0314484" /><Relationship Type="http://schemas.openxmlformats.org/officeDocument/2006/relationships/presProps" Target="/ppt/presProps.xml" Id="R3729e2043e2f4ca5" /><Relationship Type="http://schemas.openxmlformats.org/officeDocument/2006/relationships/viewProps" Target="/ppt/viewProps.xml" Id="Rbfcab337123d4473" /><Relationship Type="http://schemas.openxmlformats.org/officeDocument/2006/relationships/tableStyles" Target="/ppt/tableStyles.xml" Id="R310cda7e5a804649" /><Relationship Type="http://schemas.openxmlformats.org/officeDocument/2006/relationships/slide" Target="/ppt/slides/slide1.xml" Id="Rfa7b64377bf54801" /><Relationship Type="http://schemas.openxmlformats.org/officeDocument/2006/relationships/slide" Target="/ppt/slides/slide2.xml" Id="Rf69bcd3a021141ea" /><Relationship Type="http://schemas.openxmlformats.org/officeDocument/2006/relationships/slide" Target="/ppt/slides/slide3.xml" Id="Rdb655f7331f34d3d" /><Relationship Type="http://schemas.openxmlformats.org/officeDocument/2006/relationships/slide" Target="/ppt/slides/slide4.xml" Id="R66328a36638e4401" /><Relationship Type="http://schemas.openxmlformats.org/officeDocument/2006/relationships/slide" Target="/ppt/slides/slide5.xml" Id="R74708b524d844104" /><Relationship Type="http://schemas.openxmlformats.org/officeDocument/2006/relationships/slide" Target="/ppt/slides/slide6.xml" Id="Rd5318f349653474f" /><Relationship Type="http://schemas.openxmlformats.org/officeDocument/2006/relationships/slide" Target="/ppt/slides/slide7.xml" Id="Ra25d07f844114b9c" /><Relationship Type="http://schemas.openxmlformats.org/officeDocument/2006/relationships/slide" Target="/ppt/slides/slide8.xml" Id="R7b19ab685421436f" /><Relationship Type="http://schemas.openxmlformats.org/officeDocument/2006/relationships/slide" Target="/ppt/slides/slide9.xml" Id="Rf82e49437f994d60" /><Relationship Type="http://schemas.openxmlformats.org/officeDocument/2006/relationships/slide" Target="/ppt/slides/slide10.xml" Id="R248730c8da494889" /><Relationship Type="http://schemas.openxmlformats.org/officeDocument/2006/relationships/slide" Target="/ppt/slides/slide11.xml" Id="R191eea10e9af4bf7" /><Relationship Type="http://schemas.openxmlformats.org/officeDocument/2006/relationships/slide" Target="/ppt/slides/slide12.xml" Id="R3dfea05532a84951" /><Relationship Type="http://schemas.openxmlformats.org/officeDocument/2006/relationships/slide" Target="/ppt/slides/slide13.xml" Id="Rdecc228d61784e74" /><Relationship Type="http://schemas.openxmlformats.org/officeDocument/2006/relationships/slide" Target="/ppt/slides/slide14.xml" Id="Rc68efa345258419e" /><Relationship Type="http://schemas.openxmlformats.org/officeDocument/2006/relationships/slide" Target="/ppt/slides/slide15.xml" Id="Rd959fe9dbe1047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355286880c24f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5cfbd807e443ce" /><Relationship Type="http://schemas.openxmlformats.org/officeDocument/2006/relationships/notesMaster" Target="/ppt/notesMasters/notesMaster1.xml" Id="R4085a20caf2d45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f5d4d5778843aa" /><Relationship Type="http://schemas.openxmlformats.org/officeDocument/2006/relationships/notesMaster" Target="/ppt/notesMasters/notesMaster1.xml" Id="Rf50bf2f27ce742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e3d6b8d20948df" /><Relationship Type="http://schemas.openxmlformats.org/officeDocument/2006/relationships/notesMaster" Target="/ppt/notesMasters/notesMaster1.xml" Id="Re68032542f3145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5840448a8e4f22" /><Relationship Type="http://schemas.openxmlformats.org/officeDocument/2006/relationships/notesMaster" Target="/ppt/notesMasters/notesMaster1.xml" Id="R0b870f8f5fe947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343aef465d45b9" /><Relationship Type="http://schemas.openxmlformats.org/officeDocument/2006/relationships/notesMaster" Target="/ppt/notesMasters/notesMaster1.xml" Id="Rb846411d074446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86b10357234f74" /><Relationship Type="http://schemas.openxmlformats.org/officeDocument/2006/relationships/notesMaster" Target="/ppt/notesMasters/notesMaster1.xml" Id="Rb64e87f0a5a14b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f010482eae4dff" /><Relationship Type="http://schemas.openxmlformats.org/officeDocument/2006/relationships/notesMaster" Target="/ppt/notesMasters/notesMaster1.xml" Id="R3128f272dc0b45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46ce7694f74e68" /><Relationship Type="http://schemas.openxmlformats.org/officeDocument/2006/relationships/notesMaster" Target="/ppt/notesMasters/notesMaster1.xml" Id="R281e6cd7836140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f7682f6ead4102" /><Relationship Type="http://schemas.openxmlformats.org/officeDocument/2006/relationships/notesMaster" Target="/ppt/notesMasters/notesMaster1.xml" Id="R1eaedb12633c4b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cb09f556d347e5" /><Relationship Type="http://schemas.openxmlformats.org/officeDocument/2006/relationships/notesMaster" Target="/ppt/notesMasters/notesMaster1.xml" Id="R63c7eb845aa64b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120fe50c7e4d1a" /><Relationship Type="http://schemas.openxmlformats.org/officeDocument/2006/relationships/notesMaster" Target="/ppt/notesMasters/notesMaster1.xml" Id="Rf4732aa0857c44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f26bf3e4a94b73" /><Relationship Type="http://schemas.openxmlformats.org/officeDocument/2006/relationships/notesMaster" Target="/ppt/notesMasters/notesMaster1.xml" Id="R04f8a923fb27427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c8781a495e4267" /><Relationship Type="http://schemas.openxmlformats.org/officeDocument/2006/relationships/notesMaster" Target="/ppt/notesMasters/notesMaster1.xml" Id="Rb5dba51c7d7b49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1ccc99f11f4631" /><Relationship Type="http://schemas.openxmlformats.org/officeDocument/2006/relationships/notesMaster" Target="/ppt/notesMasters/notesMaster1.xml" Id="R238bc39467a947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fd79062e9b4db4" /><Relationship Type="http://schemas.openxmlformats.org/officeDocument/2006/relationships/notesMaster" Target="/ppt/notesMasters/notesMaster1.xml" Id="R1110aea56c564e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9b751a3c954ee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5b0c6cf0d664d3c" /><Relationship Type="http://schemas.openxmlformats.org/officeDocument/2006/relationships/slideLayout" Target="/ppt/slideLayouts/slideLayout2.xml" Id="R5bf36cab58a642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f36cab58a642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74aea225d445ed" /><Relationship Type="http://schemas.openxmlformats.org/officeDocument/2006/relationships/notesSlide" Target="/ppt/notesSlides/notesSlide1.xml" Id="R454e1b462b3a47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0665d98bb24525" /><Relationship Type="http://schemas.openxmlformats.org/officeDocument/2006/relationships/notesSlide" Target="/ppt/notesSlides/notesSlide2.xml" Id="Rd787fed54a3a43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9f82996a8f428a" /><Relationship Type="http://schemas.openxmlformats.org/officeDocument/2006/relationships/notesSlide" Target="/ppt/notesSlides/notesSlide3.xml" Id="R59643c61650f48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9ac9c9898d4427" /><Relationship Type="http://schemas.openxmlformats.org/officeDocument/2006/relationships/notesSlide" Target="/ppt/notesSlides/notesSlide4.xml" Id="Re8a9280e46f84e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c445540dc44af9" /><Relationship Type="http://schemas.openxmlformats.org/officeDocument/2006/relationships/image" Target="/ppt/media/image.png" Id="Rc5c9b427ecfe410e" /><Relationship Type="http://schemas.openxmlformats.org/officeDocument/2006/relationships/notesSlide" Target="/ppt/notesSlides/notesSlide5.xml" Id="R32e0107941974e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b3f7d4349b449f" /><Relationship Type="http://schemas.openxmlformats.org/officeDocument/2006/relationships/notesSlide" Target="/ppt/notesSlides/notesSlide6.xml" Id="Ra8b1278dd1e64b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ef0e3a31d248c2" /><Relationship Type="http://schemas.openxmlformats.org/officeDocument/2006/relationships/notesSlide" Target="/ppt/notesSlides/notesSlide7.xml" Id="R68cbc0f6a9cb49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727cf3e55d42ff" /><Relationship Type="http://schemas.openxmlformats.org/officeDocument/2006/relationships/notesSlide" Target="/ppt/notesSlides/notesSlide8.xml" Id="Rc3fd192bfde145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b658d42a434c6b" /><Relationship Type="http://schemas.openxmlformats.org/officeDocument/2006/relationships/notesSlide" Target="/ppt/notesSlides/notesSlide9.xml" Id="Rf6fed282140e4e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b5054d63a74f22" /><Relationship Type="http://schemas.openxmlformats.org/officeDocument/2006/relationships/notesSlide" Target="/ppt/notesSlides/notesSlide10.xml" Id="Re048d392293640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427623dc95469b" /><Relationship Type="http://schemas.openxmlformats.org/officeDocument/2006/relationships/notesSlide" Target="/ppt/notesSlides/notesSlide11.xml" Id="R34e725d21c5f47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d813b178a34a46" /><Relationship Type="http://schemas.openxmlformats.org/officeDocument/2006/relationships/notesSlide" Target="/ppt/notesSlides/notesSlide12.xml" Id="R6b8a119adcc24f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e6e1384a534412" /><Relationship Type="http://schemas.openxmlformats.org/officeDocument/2006/relationships/notesSlide" Target="/ppt/notesSlides/notesSlide13.xml" Id="R4a2fba1b57a047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663ceb0284f45" /><Relationship Type="http://schemas.openxmlformats.org/officeDocument/2006/relationships/notesSlide" Target="/ppt/notesSlides/notesSlide14.xml" Id="Rb5bfa983777548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141788cc08482b" /><Relationship Type="http://schemas.openxmlformats.org/officeDocument/2006/relationships/notesSlide" Target="/ppt/notesSlides/notesSlide15.xml" Id="R47fe3861fde84e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45A6C-61E0-4B91-93A4-02B9D4F5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CAC86-B8E1-4BCA-A6F3-E95A8DEF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0A9E3-B1CF-4F0A-A536-7EC15C68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流体力学会向け 研究内容紹介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E1C19-4FBF-410A-97CF-0382BEBA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7429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高次コンパクト差分に基づく気液二相流数値法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D1C3C-5686-460D-A580-910C146C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保存形界面追跡・Balanced-Force・pressure-jump 分相PPEを、同じ面幾何で閉じる。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11642-5053-414B-B6BF-65CEEB49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F5393-5099-4A0F-A6FE-810D5C80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57675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Conservative Level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37D86-EF45-4ED2-B8FD-E83F66BE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910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BEC05A-D405-49DA-BC99-6CABE522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257675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FCCD face jet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FF027-9792-4792-8DE9-4C03BE16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69D48-7EA7-4FAF-837E-9E9E7954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52975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Phase-separated PPE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27D4C3-4ED3-4602-A13F-DB6AD6C8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863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08D52C-1B0D-44A7-B9FA-F5994E72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52975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HFE + DC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29AD5-2C2B-4696-A92B-BBB7040B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904875"/>
            <a:ext cx="24765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FCEF7-2DFF-46A5-B937-EBAEDD17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1905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face-space</a:t>
            </a:r>
          </a:p>
          <a:p xmlns:a="http://schemas.openxmlformats.org/drawingml/2006/main">
            <a:pPr algn="ctr">
              <a:defRPr sz="21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10DFE6-D93B-4BF7-B28E-ACCD87F7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D5B21-677B-40DC-B957-B1E431A1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paper/sections/00_abstract.tex; 01_introduction.tex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49F292-998C-4E5E-9E45-5F3F7F78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97545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9DF736-43AA-47AC-8DBF-84698057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6D66F-E212-4EAE-B0D6-B5CC3CC8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C054C-9E28-411B-8F51-DD145C9B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二相流の難しさは、界面が方程式の全項を同時に壊すことにある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93A03-0490-4F35-822D-F49B26B8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密度・粘性・曲率・圧力ジャンプが同じ場所で不連続になるため、単相流の高次化だけでは寄生流れを止められない。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E31F2F-6C81-437B-ABD5-9ACB1FC4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718171-8F26-4648-846C-2961BF1E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物性ジャンプ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A9349-5715-4CB9-91DE-F15E633F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4125"/>
            <a:ext cx="21336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rho_l/rho_g は水/空気で約1000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13A03-F4F3-4F6B-9950-350111EA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2531-D98C-4919-B782-2E6DF527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288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界面追跡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B8B04-68F6-4AC7-B642-EC274582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24125"/>
            <a:ext cx="21336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質量保存と鮮鋭性を同時に要求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159226-B007-4B0B-BE3F-CB956AB2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6714A-C795-4A2C-9E31-B9CE6590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曲率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5DE2D3-DC5E-4FC9-8FBB-EC4DC41E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21336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二階微分誤差が表面張力へ増幅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FDDF8D-221F-49B5-B2CB-82BC5E75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4330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12494-644E-4730-97D3-0CB4A081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766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圧力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82B04-1F4C-4A46-9A45-974FC522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21336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PPEと速度補正が界面条件を共有する必要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29818-5EB2-436D-BB12-C5B0DA97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005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8ADBF-AEEA-4D86-AB5B-D796C119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界面が作る連鎖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01022F-5302-423B-B3B9-DE5B7DF6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194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8600EA-9DDB-4A08-B89E-8E11134F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860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不連続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79002-251D-4233-811F-F612A946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C6230-4B14-4C9F-B791-FCBF6003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766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10E7DC-2F1A-43AB-AE76-CB96003B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432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曲率誤差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3A0542-AE3B-4261-826E-0A171709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4ED63-02CF-4297-8175-3AFED006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338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E67776-D1B5-450C-A932-BFDB1527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8004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圧力不整合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2019F5-5CF8-4F38-BA19-9923E724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95750"/>
            <a:ext cx="19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E63165-5591-43AD-AB83-FA407EAF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910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92C6B-2DA9-445D-814E-3F14C24D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57675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寄生流れ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989BC-3C93-404D-AD2F-3BB8E700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64888F-DF9D-4346-941E-44490328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paper/sections/01_introduction.tex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BE2056-D1AB-4B09-B71B-0BD4C396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6672713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09A4BA-0A39-495A-902B-ABA20330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E6A24-7ED7-4BDB-9BBA-B5F02606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3F1D6-653C-4EBD-B5A8-332811E4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本研究の主張は、寄生流れを「調整」ではなく離散契約で抑えること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931A1-50FC-442C-8572-1117AFAF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曲率・圧力・速度補正・界面輸送を face-space contract に集約し、Balanced-Force 条件を演算子レベルで保つ。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2A513-DE48-46C3-9DC2-38D7740C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5ADAB-D3BD-42CB-96FD-8A1559EC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95CB1-6D98-4E5B-8647-30573822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3370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高次演算子群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D3240-F935-4B8B-9D76-796B44C2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CCD / DCCD / UCCD6 / FCCD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33EA4-F8F0-4824-B684-83B53FC4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28850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D0A6F-0408-41DB-9A82-13E3F6E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F146D-5A69-4A67-AE00-C8AE29EC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圧力閉包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8E890-597B-4FF9-A1C2-33747505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9090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phase-separated PPE + HFE + DC k=3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85BA7-85EB-4121-84B9-61DBF987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28850"/>
            <a:ext cx="2857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8C831-5DD4-4F17-BDCD-71214AA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3B6753-13C5-46D9-A33F-5203502F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33700"/>
            <a:ext cx="2381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面幾何共有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1D6311-1D1D-4BC1-81FC-923693F4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90900"/>
            <a:ext cx="2381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FCCD face jet + projection-native face velocity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47B63D-36AE-404B-B222-888209EA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8577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same face-space contract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D517F1-ECDF-4C3B-B1E3-A89954AA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D8FBB-C377-4241-8323-73C01B81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paper/sections/01_introduction.tex; 08_collocate.tex; 11_full_algorithm.tex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745398-EDA0-4B78-A944-555E1CEE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477459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174607-8B9F-40A4-A8F7-8559E989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1E7CF-CEC9-4C5C-8996-72AA7405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BEF1A-E350-463A-8C49-48527806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One-Fluid 表現は入口であり、圧力ジャンプの扱いが出口を決める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6C9ED-92BF-430F-9D1B-679E15E6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CLS は界面を保存形に追跡し、Young--Laplace ジャンプは CSF 体積力ではなく pressure-jump として PPE に渡す。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A3B2A-4072-46A6-A229-32FE9A46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F5A3F-3085-41FF-BD99-9CBB868E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52725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psi = H_e(-phi)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6E435-D0B6-4402-897E-AEE886B4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48000"/>
            <a:ext cx="1752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保存形界面変数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6F24A-A86F-4243-95A6-0EF704D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48000"/>
            <a:ext cx="400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48697F-2DEA-4C06-A0D4-377FD433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619375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3B4CA9-75BB-4ECD-A332-45B18E9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52725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kappa_lg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BEFC75-9DB1-476B-AC44-4C5408AC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1752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HFE / direct-psi 曲率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89C03-F04E-4709-A390-BA6C88C1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048000"/>
            <a:ext cx="400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B9207-F094-43D0-8F60-ECDDEB0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19375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BDEACB-C53A-41A9-92F8-E899A9F3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52725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j_gl = p_g - p_l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5010C-E0E7-43E0-9617-09170581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1752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-sigma kappa_lg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0E235-705E-4A78-B46E-42B94E6E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48000"/>
            <a:ext cx="400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CC275-FE2F-4FFB-BE8E-DE624D4D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19375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B97E76-0944-49CC-8658-AFE7812F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52725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G(p) - B(j)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B354A-5BCB-4473-BEA6-9CA04BF7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48000"/>
            <a:ext cx="1752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affine jump corrector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71EE0E-0154-4847-8BBA-D73F2F2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5770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CSFの体積力近似で閉じず、圧力ジャンプとしてprojectionへ入れる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50A13F-CE8C-432A-804D-08E71466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2DFCF4-BB15-4B51-9C76-FAC38BA4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paper/sections/02_governing.tex; 02b_surface_tension.tex; 03_levelset.tex; 09b_split_ppe.tex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FDF60-D4F6-49AD-8556-EEDA346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355061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2CFFAC-C915-42C4-A26C-FD9B9B24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13922-9E46-42B3-B0A4-11D7DCC7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1785A-1769-4AD1-8947-CA01CBF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CCDファミリは、節点中心の高次性を面中心の保存形へ広げる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7009D-0F69-4713-8C47-CF65685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内点6次のCCDを起点に、DCCDで高波数を制御し、UCCD6とFCCDで運動量・界面フラックスを分担する。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2BBBE-075D-4B3C-B567-BA56FE2F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D45B5-67B8-442E-A790-448218E9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24075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CCD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A1D48-0DD1-4279-832A-A277CDBE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h^6.0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C8581-B5EA-430F-B125-F80D8090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504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内点微分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A8220-7CE6-440D-A59E-45314840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0002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4FB20-B348-4959-BC7C-6DE17EEE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24075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FCCD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34722-5D35-4D85-BED4-D743C0DA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2410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h^4.00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C65ED-905F-4DED-9012-E0BCADC3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504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面値/面勾配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1A3A2-A1D0-49B3-A4B5-84CCE86C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002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D13E4-82B2-4CF2-9C88-C04689CD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124075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UCCD6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9E4F9-2111-4E84-9191-B29EF657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2410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h^7.00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AD671-B7C0-4B82-BC2A-92A20128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1504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対流スーパー収束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7ADF34-8423-420C-A2C1-49645740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3AFE3-2060-4EA7-BC4A-7744033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24075"/>
            <a:ext cx="1504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DCCD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06601-B0C9-4157-9772-CA2B9120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2410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H(pi)=0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A52100-1F08-49F9-8E3C-6DEE5326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1504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Nyquist 抑制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9b427ecfe410e"/>
          <a:stretch xmlns:a="http://schemas.openxmlformats.org/drawingml/2006/main"/>
        </p:blipFill>
        <p:spPr>
          <a:xfrm xmlns:a="http://schemas.openxmlformats.org/drawingml/2006/main">
            <a:off x="1866900" y="3397242"/>
            <a:ext cx="6858000" cy="1987567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1A2094-CB24-4A6F-BCAC-81E881B1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23241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8B34F-7ACE-4590-9C38-9933F4D3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338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設計原理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359727-A834-4097-985C-8B495F4D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809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面値・勾配・散逸を同じコンパクト演算子族から作り、圧力だけはDCCD適用を禁止する。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7E4667-A1B6-4C51-B349-F9624709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3B032C-EF3C-42D2-9AB9-CBDF31F5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paper/sections/04_ccd.tex; 04c_dccd_derivation.tex; 04d_uccd6.tex; 04e_fccd.tex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32604-4B43-4086-9A92-B7C5D2CB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6002728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FD5AFE-6176-4345-86A3-B8BD3DF1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A4F59-F3DE-4A2B-AF00-984666C1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34152-BC5C-4BDC-8A91-33600CDF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界面追跡は、保存形輸送と距離関数修復を分けて設計する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ADD5B-BD19-43B7-B2B4-B85EBF77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FCCD flux-form で質量を運び、Ridge--Eikonal 再初期化で距離関数品質を戻す。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BC4BD-1FBA-4084-AC8E-6FA8FF2C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50A8F-70B3-4FB8-B6B6-5DA8FFD3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移流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60A53-07DB-4D81-A62B-39365F08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14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1CE9E-A69D-4142-84FB-6C4B9349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801EE-220F-4FF4-8E97-54E43D6E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クランプ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1ECA38-2FDC-4BA7-B538-3AF8482F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914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F08B2-24ED-4697-91A7-67BBF6C0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E750B3-1EA5-4A38-B483-AB21FD73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逆変換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4D49F-958C-4396-A72A-8F630E93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14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3C50F5-7F72-4014-8FD4-B329EB7D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CC711-8976-4A60-BA25-2450C4CF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Eikonal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03BDA-F4C9-452C-A461-540F128B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914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682F11-C316-4E38-8864-56B5E3FE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B4C6AE-0D57-42ED-BBB6-965BE9D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DGR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A55647-86FB-4CD6-8ECF-29112207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146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AD8F71-00E0-4388-9CBF-B6666F26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67000"/>
            <a:ext cx="1352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7BDE79-B577-4729-B4A4-BFFA5DCD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952750"/>
            <a:ext cx="1123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曲率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6FC56-D2C8-49E7-89E2-8736CB00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38625"/>
            <a:ext cx="598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57E15E-C0EA-4911-A49E-E50A1A18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00550"/>
            <a:ext cx="5524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epsilon_eff / epsilon_*: 2.0 → 1.0000033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AAB7B9-DF12-48BB-B66E-14185B98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1675FA-22E3-493D-9ED8-3D4773F5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paper/sections/03b_cls_transport.tex; 03d_ridge_eikonal.tex; 05b_cls_stages.tex; 12_component_verification.tex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364D84-A248-42B7-9E70-3C0C957A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0668288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74FF0B-F59C-4906-B9DD-E1430A5A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CAC7C-FF33-4037-8415-80FF5644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DA600-BBBF-4176-BCA2-8ADFDCB8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高密度比では、一括PPEではなく分相PPEとして圧力を閉じる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9EE222-44BE-4DEB-B695-A1363EEC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相内Poisson、HFE場延長、欠陥補正DCを組み合わせ、ジャンプ条件をPPEとcorrectorが共有する。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DA11F-FA47-48D3-A62C-05CE4180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99190-8E56-45CC-917C-2F4B75ED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6975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相内 Poisson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D85111-2D59-4EFA-B2DC-35F70C92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16573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phase-separated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D0A053-5878-4925-87DF-B07B15D3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051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C6BAE-D00D-4D84-B781-F2272662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7F783-9888-48D7-BFA0-4217E868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66975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HFE 延長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A2740-D1CB-4888-85B1-BB22671B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62250"/>
            <a:ext cx="16573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Hermite triplet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1D21D-1E02-41B6-9EBD-FB826731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051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18902F-1849-4B62-BB47-56828110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33625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DC3C8-CD5A-47FC-A94F-C3E24A7A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66975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DC k=3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FFC60-B48E-4F63-80FE-8ED5D647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62250"/>
            <a:ext cx="16573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residual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F02350-CB60-4B15-AA3B-F737AE90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05100"/>
            <a:ext cx="34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BF0D0-5DAF-43AB-AE37-4B3E5BA3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33625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6A083C-A01B-47FC-9108-48A96995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66975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jump corrector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7551A-CDF5-4D25-A182-C094CB6A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16573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G(p)-B(j)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2984BD-528A-411B-9E59-E1FDBF9B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957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CE3D22-F187-4FCB-9C24-3532A468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20288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HFE 1D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E87949-1789-4251-A8BE-D10C55D6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h^5.91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3F1D27-2695-414B-B298-7CF606E9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43450"/>
            <a:ext cx="20288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Hermite 場延長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91A9B-DFF9-4BF7-B03B-64901374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957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254DA2-4DC2-41DF-BB91-842D40C5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19575"/>
            <a:ext cx="20288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DC k=3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DC3C9B-1479-4477-9FC1-B7D27F36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h^6.90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A740AE-5F59-434F-AD99-8C163E4C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43450"/>
            <a:ext cx="20288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Dirichlet production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84E984-D272-457D-B058-9A64040D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957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34DE38-7FEC-4459-A6AF-82EC70F7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19575"/>
            <a:ext cx="20288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残差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3F2275-CABE-4364-B675-F9FBC2B2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19600"/>
            <a:ext cx="2028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7e-6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F9F5F4-318B-401D-9E08-C8B9136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43450"/>
            <a:ext cx="20288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U6 split PPE + DC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4D8F03-9A41-45F0-AFD4-0FD43B99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B26DE7-7781-4787-B3C1-7CB1F550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paper/sections/09b_split_ppe.tex; 09c_hfe.tex; 09d_defect_correction.tex; 12u6_split_ppe_dc_hfe.tex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25CFA8-35C3-4907-9362-1E4E1273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558349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A7B6EA-90B4-46E5-A8F6-6CA1C074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9CE8A-6822-46A6-9555-9BAE65B0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EE3D8-B21E-4C19-8442-8B521D58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Balanced-Force の条件は、同じface footprintを共有することに落ちる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613AC-9CB2-4F4C-8A40-9C80623E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圧力勾配、表面張力、HFE上流点、GFMジャンプを別々に作ると、同じ式を使っても釣合いは崩れる。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F8E2CE-FC69-410E-95D4-4F9C8D6E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19375"/>
            <a:ext cx="3524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9B9AF-21F2-4240-832E-A3AA1B04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FCCD face jet J_f(u)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D8703-81B9-4839-AAE6-91BCDBCA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146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8B4466-14AE-4F04-B80B-23674678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146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2AD95-8230-436D-A5B5-B67A3590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71825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2A7CE-B21F-438B-AA6D-69998233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171825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548BC2-1C77-4174-9008-E390AB66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38525"/>
            <a:ext cx="19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195B0-0D73-4A97-B5B5-884C21AD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08DEDB-D09C-430C-B6EB-89216C40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62225"/>
            <a:ext cx="2105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pressure gradient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6DE31-9F10-4C8E-8FB2-77553E99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628C6-704C-4B7B-A93F-DF9EA847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76725"/>
            <a:ext cx="2105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surface tension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7F23F0-0761-464B-82D2-5EFC644E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333875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BC7239-A88E-4212-8457-CE58B8C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14850"/>
            <a:ext cx="2105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HFE upwind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7A65F-1F88-4713-9EE6-797F0CFF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957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B7B19-F624-4ECE-AD8C-9BA90FF3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76725"/>
            <a:ext cx="2105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GFM jump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DB62D0-931E-4E4F-8384-866699FA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3812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60C3ED-EB3A-429A-B52E-A8376980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562225"/>
            <a:ext cx="2105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projection face velocity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5D49C-B893-4BFD-896C-2CDFB927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53050"/>
            <a:ext cx="632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同じface locus / 同じ面係数 / 同じjump向き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425358-FBCD-41E1-991E-29566440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1341E4-BA4C-4A17-8E26-91F8AF0E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paper/sections/08_collocate.tex; 11_full_algorithm.tex; 14_benchmarks.tex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16D9FC-46C3-46CD-8201-01D4787C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62117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EACFA5-9098-4E40-A626-276B1AA1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E310-4BDC-4CF7-BA2C-6FF46615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FF07A-183E-46BC-8CFA-21A13E7D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1タイムステップは、界面面幾何を先に閉じてからNS更新へ渡す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13254-FC95-4A64-926C-97F72FD6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7段更新は部品表ではなく、psi・phi・rho・mu・kappa・face-state の受け渡し契約である。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9DD59-A01F-4C75-86D8-8DFBD7C3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BD8F0-4C02-4056-B255-BF25875B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D79E4-52DF-4DF3-BC98-A44D4267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CLS移流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CD362-A1B4-427A-92E3-7DE3E256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12C1C-CA49-4A01-AF1E-966B291D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FFD3F-6032-48DE-8698-D825B98A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再初期化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91993-458F-4B38-93A2-DEDBCF63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E97BC-4471-4493-A640-8EEEA842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9E1B7-5E4A-4500-A7E4-E47718D3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物性更新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798750-4DDA-48DD-B480-86213834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95A21-4CF5-47A8-BC77-3ADE99FD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50E464-A0D9-4D4F-A1D3-226565A9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曲率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8A02A9-7113-4E2F-B587-4ADFC27C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387DDF-D743-4920-B8FA-BF07667B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3175F0-5C73-44AF-B044-8661306C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予測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BDBAA5-930C-471F-B77D-C4614D85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4EF0F8-044B-4D33-BB90-23844A84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50565-7AE7-4C77-8186-A411D47A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PPE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1D759D-9E04-44D8-A6A5-2EB0C295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52700"/>
            <a:ext cx="1181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17D24B-0B16-446C-92BF-E62DD5EF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05100"/>
            <a:ext cx="43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AE6980-5FF5-4631-B1EB-CF0DE8DB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990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補正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DAD6FC-071E-4C64-B2E8-C0DD8AA2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界面幾何を閉じる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173FAE-0E78-48C8-8E2E-C870D484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F0B429"/>
                </a:solidFill>
                <a:latin typeface="Hiragino Sans"/>
                <a:ea typeface="Hiragino Sans"/>
                <a:cs typeface="Hiragino Sans"/>
              </a:rPr>
              <a:t>NS projectionへ渡す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101E4D-0001-4FE8-8414-9A2D27E9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FCF20-57B1-4539-A6C2-FD00B462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paper/sections/11_full_algorithm.tex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B99DAF-6D16-452E-9F95-E3A4086D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867586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816755-C568-45F5-96C3-4D18BEF5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74DB0-33EB-4878-B6D7-9AB6D40D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6F42CB-9FD2-43CE-B732-AC445EB5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単体検証は、各primitiveが単独で設計どおり働くことを確認した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23A4C-166A-4157-B2EB-2CF6ACB5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U1--U9は、基礎演算から否定検証までをトポロジカルに並べ、式・離散化・観測指標を一対一に結んだ。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3D7B95-F29F-47E0-BA58-69FBC4E5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54418-5FB4-4B80-91C3-73C9E915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3362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U1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40887-2010-42F9-947A-DAEC89BD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336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CCD h^6.0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BC609-35B5-4C7C-B0DD-C191904E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1885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operator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CE0B8-2D84-4A0D-92AA-C7EF9CA2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65BBB-59DB-4E5D-82AF-A81B3D0E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3362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U3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01899-9414-417B-928B-8B919896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336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GCL 2.13e-13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7B0DB-4AEB-4534-A9CB-882B343A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57500"/>
            <a:ext cx="1885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nonuniform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6040F-CD0B-407E-8181-96337DE8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098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582F9C-A9B3-49AE-ADF0-011081C1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3362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U7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C8A86-3501-41C6-B19A-AD7F86A0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336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0.61%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D9904-C6CC-4247-9017-333A42EF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57500"/>
            <a:ext cx="1885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Laplace error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72058-8F67-4ED3-B6CC-DDF56B46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980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F5DED-5B59-4A32-A5DC-01F028C5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3362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U9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44659-08D5-42EE-ACAF-724BA51A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336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禁止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B0602-FC4E-46BB-82B2-8D42518A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57500"/>
            <a:ext cx="1885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DCCD on pressure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3F8F1-9484-4AFE-B236-69920115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48125"/>
            <a:ext cx="9639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19D7AF-6A6D-49D7-B22D-B5F830F1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05300"/>
            <a:ext cx="902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基礎演算 → 特殊離散 → 結合系 → 否定検証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2C1D14-170C-4E94-A708-042CFFF2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E2C163-768D-4AAA-82F5-4D300A08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paper/sections/12_component_verification.tex; 12h_summary.tex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A8605D-8D52-489C-A677-27BF517D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02117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E322DE-E856-4800-B9B2-8055B701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9A250-E46B-485B-BA6D-F8D846C8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E724B-C426-4F03-92EE-212D215A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統合検証は、合格領域と条件付き領域を分けて読む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BA82E-EFD9-49D0-89F3-EE4F1B02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V1--V10は x ゼロだが、V7とV10の形状軸はType-Dとして設計限界を明示した。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57E8E-21DB-4A17-BACD-B6F75E47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24050"/>
            <a:ext cx="619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判定軸数（V10は質量保存軸と形状軸に分割）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5A73B-7720-4324-BD19-5729EE6B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Design / Type-A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6B683-7B7D-4ADD-9B72-ECB3B7F1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D131B-040B-45CE-817B-473B1862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3810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8D558-56A4-4021-8384-90F13C9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76475"/>
            <a:ext cx="47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134D7-3EA1-44DD-9709-D38398C6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Type-B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85B64-A537-4EC2-B23D-BD657501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146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04479-953A-4C3F-BF2D-5FC93E9E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14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42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20404-5571-4C77-B81B-0BCA5DBA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000375"/>
            <a:ext cx="47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82A1EB-C85A-4E7C-BC50-9AD1ADA1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33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Type-D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67254-C37D-4029-B556-F50EC869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E0CDC-5E75-4AC0-83EF-90C8E060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7010E-6346-4A3B-A088-70607EA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24275"/>
            <a:ext cx="47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AC851-1126-478B-8EB9-06294656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Out of scope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E6C63B-44A1-4A1A-9755-7FE27D31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668BDD-DE5B-410E-A6B9-DD933DAC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88B8DE-1B2C-4FB3-B9FB-95A82272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48175"/>
            <a:ext cx="47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7AB88-840F-4408-8FFF-31329BB0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23BF1-013E-4253-A944-1C28F549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paper/sections/13_verification.tex; 13f_error_budget.tex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89BCC2-C07D-48A7-83E0-91D642DA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7736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7889CF-52E0-4636-8E69-2F1B34B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263E2-90FE-4F0A-A3F4-C681DAD1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CFA6C-85C0-41DC-94DD-4E53A88D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寄生流れは、FD基準より小さい絶対スケールへ抑制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0CB72C-370F-4F55-B319-112938B1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静止液滴と密度比sweepでは、CCD/BF構成とpressure-jump stackの安定性を別々の指標で確認した。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BC99B-8A46-457B-94D3-C5C87D7E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4191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2EC76-8816-4381-A116-CDF7F40A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57425"/>
            <a:ext cx="388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V3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9B41D-51F4-4F19-8282-554CAB9A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0.97%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CDE60-03BE-44FF-A94E-4F70A15B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3886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Laplace pressure error at N=128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9572D-080C-4459-8492-069C53C4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33600"/>
            <a:ext cx="4191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6AF5E-80E3-40AD-B4C3-326D2B4D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57425"/>
            <a:ext cx="388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V5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88FF9-22C8-48F0-9396-C8598356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5745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1.93e-2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F9922-FD99-4C4D-9BFB-2D4035BF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3886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u_inf end at rho_r=1,N=32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03ED2-9ED0-495F-95E5-CD583757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4191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A240D-3AD2-4F9E-9D1A-0DD13DBC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29025"/>
            <a:ext cx="388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V6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C3B101-41AA-4FB3-A230-6BF1A497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rho_r &lt;= 833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CE7E32-6C9D-414A-A1B4-25BAA004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3886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no blow-up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90FBB3-7927-4047-815B-F287CDB3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05200"/>
            <a:ext cx="4191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8630F-B005-4669-8AAA-C5F8B14A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29025"/>
            <a:ext cx="388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V6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DC3B9E-458A-41A8-8E90-EC5ECB81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6.4e-16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DBF420-D3D5-4243-90C1-C5B1AE98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3886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volume drift floor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5E0231-BFC9-4F54-B1BE-A2A24F0F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3CD2C-9A9A-47DD-8BD3-9F328D2F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paper/sections/13b_twophase_static.tex; 13d_density_ratio.tex; 13f_error_budget.tex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21856-1330-4020-B1D5-E3DD7812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326352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2D0A2-25A7-4D17-8EFE-96D9AFC0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A8417-D52D-485A-99ED-1A86B9D8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D0C17D-A113-484B-AA7F-30E04066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限界は隠さず、どの誤差源が支配するかを分離する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8CD6E-6D68-44CA-8D91-007CAF3E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二相時間精度はcapillary pressure-jump/projection界面帯に律速され、CLS形状復元は固定格子の位相・filament限界に当たる。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69275-FF15-4B0F-9C7C-006EB6FC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10210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4F6FBE-33CF-47C0-B3DC-1781F05A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V7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B6303-CABA-4BA8-BF0A-0385F5E7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slope 1.48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4DD7E-844D-410F-8E07-10507F2E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90775"/>
            <a:ext cx="581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BDF2単体ではなくcoupled-stack実効次数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7D770-D911-4D67-BFFA-4CB67C75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210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11F47-7A74-4A99-AA33-7E80C94C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V10-a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62702-842F-4501-BCC3-AB6F1EB1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575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centroid 4.911e-3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0161DC-7A02-43F0-863C-F705F2BD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95675"/>
            <a:ext cx="581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Zalesak slot under-resolution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2CC5F-524A-4C5D-B274-9542CB78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10210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8E645-008A-4172-804C-00CACCDA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9105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V10-b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9DE99-2FB0-4738-AC91-86548E35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624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L1 2.248e-2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E4A2BA-83EE-465C-9F37-347AC657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00575"/>
            <a:ext cx="581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folded filament の固定格子限界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7E733F-C237-4EFF-84D4-17B17D19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D4266-BFE5-4787-B88E-21393653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paper/sections/13f_error_budget.tex; 15_conclusion.tex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1803DB-300B-4F99-AF07-DB0E56D3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2956488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1871D7-E137-42F8-B12A-0C60ADDF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C06EC-3F34-4708-AFAC-EB7028D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A95C8-9249-46D2-B1BD-52016CA4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物理ベンチマークは、毛管波の符号検証から次のゲートへ進む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1B5CF-303E-4F19-AC2E-9FD7AD6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向き付き affine jump は短時間の復元力符号を通したが、気泡上昇とRayleigh--Taylorは未完了検証として分離する。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153813-BDCE-430B-99C9-4089D0BE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2762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05D6D-B6D6-4AB1-AE43-3ADEA40F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2890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毛管波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5C783-EE36-4577-B41C-174CBF9C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2152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A''符号・大きさを確認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1ADAD-6BF7-404A-A39D-2BC7CD99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481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17A37-4EA7-47D7-8C52-CF5F1484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1477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進行中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B29C6-0CA7-4CB5-8A84-DD09D6FB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2762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CBBDA-5AE1-4AA1-BE77-5AECC7D6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気泡上昇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0A41F-E495-4DA6-BE32-9DACFE7E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152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yc(t), rise velocity, deformation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112A93-8B12-47C1-9AF3-22DF5293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8481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7E749-3C08-4A93-B0E0-6FE7AE8D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1477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未完了gate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C1DF4-033D-4BF2-9D48-8EB9C1B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81250"/>
            <a:ext cx="2762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BC06D-98DE-430D-9E29-74A6AAF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28900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Rayleigh--Taylor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DC915-7E1F-4136-8AEC-FA1951BC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152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線形成長率とmushroom形成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8AA87-F677-42BB-9968-E00A82FD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481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89A7B-A710-48C2-B767-C068A2D2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14775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D95D39"/>
                </a:solidFill>
                <a:latin typeface="Hiragino Sans"/>
                <a:ea typeface="Hiragino Sans"/>
                <a:cs typeface="Hiragino Sans"/>
              </a:rPr>
              <a:t>未完了gate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14C8C-A914-4756-8C09-757C2145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52CCE-DFB0-4BBD-9785-8EC81C87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paper/sections/14_benchmarks.tex; 15_conclusion.tex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C49B9-4073-4CF1-BDF4-7FD183A5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8478270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8B0436-1CA6-40F7-B0A2-CA7641F1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A80D9-7C4E-4277-8B32-8D84554B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A200F-94BF-492E-BE14-7A1D1141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7524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7212B"/>
                </a:solidFill>
                <a:latin typeface="Hiragino Sans"/>
                <a:ea typeface="Hiragino Sans"/>
                <a:cs typeface="Hiragino Sans"/>
              </a:rPr>
              <a:t>結論：高次化の本体は、演算子次数ではなく界面面契約の整合である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E53C7-0FE2-442B-9076-06A8AD03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本研究は、CCD高次群・分相PPE+HFE+DC・Balanced-Force face subsystemを統合し、二相流で何が合格し何が未解決かを検証軸として固定した。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2F1DE-681D-4C28-BB11-CFF773EB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9486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1D63C-B383-4E8A-8A20-6D52CA0D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4315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DD664-1180-4167-A0E7-71902CCA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36220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寄生流れの離散化起因成分を構造的に低減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CBC60-1405-4690-A6AB-4D2B566B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24200"/>
            <a:ext cx="9486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621CA-E015-4D5E-8251-85B0609D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7660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84D7B-E388-4CC7-AC13-E6D38D3B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9565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密度比 &lt;= 833 まで pressure-jump stack の有界性を確認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0859EA-1B8F-49A0-8540-4D29E119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9486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B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5324A-B97B-4ECE-B5EA-38ADBDBC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0050"/>
            <a:ext cx="38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B998B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DEAF8-BDBA-4099-B0C8-F89713B8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2910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34E70"/>
                </a:solidFill>
                <a:latin typeface="Hiragino Sans"/>
                <a:ea typeface="Hiragino Sans"/>
                <a:cs typeface="Hiragino Sans"/>
              </a:rPr>
              <a:t>V7 / V10 の Type-D 限界を次の研究ゲートとして明示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EB163-4955-487C-B358-AC2D88B1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848DC-27E6-4BDF-96BD-7A44497C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19850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9737E"/>
                </a:solidFill>
                <a:latin typeface="Hiragino Sans"/>
                <a:ea typeface="Hiragino Sans"/>
                <a:cs typeface="Hiragino Sans"/>
              </a:rPr>
              <a:t>source: paper/sections/15_conclusion.tex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562F2-3BF3-49F9-BB39-739175A4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41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3606D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653378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2026-05-05T16:31:56.1900000Z</dcterms:created>
  <dcterms:modified xsi:type="dcterms:W3CDTF">2026-05-05T16:31:56.1900000Z</dcterms:modified>
</coreProperties>
</file>